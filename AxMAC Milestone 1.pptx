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We are presenting AxMAC, our AI Accelerators course project, and this is the Milestone 1 review: what we built up to the October 1 deadline. In one line: an 8x8 multiplier whose accuracy is a single dial, N, and an open-source flow that measures what each setting of the dial costs and saves. The dots on the right are the 64 partial products of the multiplier; the hollow orange ones are the bits we throw away when N =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are doing: an 8x8 unsigned multiplier, a and b in, a 16-bit product out, with one compile-time parameter N. N = 0 is the exact multiplier. As N grows, we drop more of the low-order partial products, so the circuit gets smaller and less accurate. Why: CNN inference is dominated by multiply-accumulate operations, so whatever the multiplier costs, you pay it millions of times. Approximate multipliers trade a little accuracy for area, power or speed. But published designs usually give you only a few fixed accuracy points. A single dial lets a designer choose exactly how much accuracy to give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table left to right, one row at a time. Row 1: Closely related work reports only a few design points. Rather et al. 2025 has two FPGA designs; X-Dadda treats approximate width as one knob among several. We sweep the whole range with one parameter N. Row 2: Rather et al. observed that image quality follows the maximum error and how often it occurs, not just the mean error. We want to test that systematically: many designs (our sweep plus published baselines), two workloads, and a rank-correlation analysis. That is Milestone 2 work. Row 3: We use a fully open toolchain, so anyone can regenerate every number. Be clear about what is NOT ours: truncated Dadda multipliers are prior art, and parameterized approximate multipliers already exist (X-Dadda, TPU-Gen). Our contribution is the parameterization, the open-flow characterization and the evaluation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Multiplying two 8-bit numbers produces 64 one-bit partial products: bit j of a AND bit i of b, worth 2 to the power i+j. Bits with the same i+j form a column; the diagram shows all 15 columns, with the least significant on the right. Our knob: every bit in the lowest N columns is replaced by a constant 0. Here N = 4, so the ten hollow orange bits are gone. Because we only remove value, the approximate product is never larger than the exact one. The remaining bits are added by a standard Dadda tree: 35 full adders and 7 half adders, generated by our script gen_dadda.py, then a normal adder for the last two rows. Important honesty point: we do not re-plan the tree for each N. We use the same tree and let synthesis delete adders whose inputs became constant zero. That is where the hardware saving comes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pipeline, and every box is one make command. 1. gen_dadda.py plans the Dadda tree, checks it in Python, and writes the Verilog. 2. We simulate the RTL in Icarus on all 65,536 input pairs for each of the 13 values of N, and compare with the Python model. 3. Yosys synthesizes it to SkyWater 130 nm standard cells and reports area. 4. OpenSTA finds the critical path. The multiplier sits between flip-flops, so the delay is register to register. 5. For power we simulate the synthesized gate netlist, record switching activity, and give it to OpenSTA's report_power. The screenshot is the real timing report for N = 0: the signal arrives after 4.064 ns, plus 0.128 ns setup time, gives a 4.19 ns minimum clock period, about 239 MHz. These are pre-layout numbers at the typical corner, so we only compare them relative to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should you trust our numbers? Three pieces of evidence, all re-run on 5 October from the committed repo. Left: make test. It runs 42 unit tests on the Python model, then simulates the Verilog for every N from 0 to 12 on all 65,536 input pairs, and compares every single output with the model. 13 out of 13 pass, with zero mismatches. Top right: a test that passes no matter what proves nothing, so we checked that the checker can fail. We gave it the N = 4 hardware output but asked it to check against the N = 3 model. It reports 44,800 mismatches and exits with an error. (We restored the real dump file afterwards and it passes again.) Bottom right: after synthesis, we simulate the actual gate-level netlist built from sky130 cells and check every output against a times b: 5,008 out of 5,008 correct, for both our exact Dadda tree and the tool's own 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the error side, computed over all 65,536 input pairs by model/metrics.py. Mean error and maximum error both climb steadily with N. The third plot is the interesting one for our research question: the number of pairs that hit the maximum error drops by 4x per step, so for large N the worst case is very rare. Error rate saturates near 99%, because almost every product loses at least one bit. Bottom: the hardware side. Area falls with every N: 12% saved at N = 4, 55% at N = 8, 93% at N = 12. All area numbers are relative to our exact N = 0 design, from the same flow. Right card: our exact Dadda tree (N = 0) against the tool's own a*b. The a*b version needs 8.2% more area and 5.8% more multiplier power, and is 2.4% faster. Power used uniform random inputs, which the milestone plan allows; Milestone 2 switches to image data. One honest caveat: delay does not fall steadily with N. N = 2, 3, 4 and 7 come out slower than N = 0 even though they have less logic. That is a side effect of the synthesis tool mapping logic without a timing target, and we will test timing-driven mapping in Milestone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 is organised by job. rtl holds the hardware: the approximate multiplier, the generated Dadda tree, the adder building blocks, a plain a*b for comparison, and a wrapper that puts flip-flops around a multiplier so we can measure timing. tb holds the testbenches: one applies all 65,536 input pairs, the other simulates the gate-level netlist to get switching activity for power. model is the Python reference: the bit-exact model and lookup tables, the checker, the error metrics and 42 unit tests. flow is synthesis, timing and power, with every tool path set in one file, config.mk. Finally, results and figures are only ever written by scripts, never by hand, and the Makefile has one command per step, so a clean clone reproduces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comes next, for October 29. On the build side: a MAC processing element and a new 4x4 systolic array, both checked bit for bit against a Python golden model. Then the baselines: three or four published multipliers from EvoApproxLib, plus TruMD, each verified and pushed through exactly the same flow, wrapper, clock and corner as ours. And power measured with realistic image data instead of random numbers. On the results side we will produce: accuracy versus area, delay and power curves; image filtering quality in PSNR and SSIM, including the same noisy-cameraman case Rather et al. used so we can compare with them; the change in CNN top-1 accuracy on MNIST; and the main research question, a rank-correlation analysis of which error metric best predicts the quality loss. We are not predicting those numbers yet; they will come from the scripts. If we fall behind, the CNN is the first thing we cut; the baseline comparison stays. And one open issue we are honest about: delay does not decrease smoothly with N, which we will address with timing-driven mapping. Thank you,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5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16202B"/>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01"/>
            <a:ext cx="10566400" cy="4191099"/>
          </a:xfrm>
          <a:prstGeom prst="rect">
            <a:avLst/>
          </a:prstGeom>
          <a:noFill/>
          <a:ln/>
        </p:spPr>
        <p:txBody>
          <a:bodyPr wrap="square" lIns="0" tIns="0" rIns="0" bIns="0" rtlCol="0" anchor="t"/>
          <a:lstStyle>
            <a:lvl1pPr algn="l" indent="0" marL="0">
              <a:lnSpc>
                <a:spcPct val="140000"/>
              </a:lnSpc>
              <a:buNone/>
              <a:defRPr lang="en-US" sz="1600" dirty="0">
                <a:solidFill>
                  <a:srgbClr val="16202B"/>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16202B"/>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01"/>
            <a:ext cx="10566400" cy="4191099"/>
          </a:xfrm>
          <a:prstGeom prst="rect">
            <a:avLst/>
          </a:prstGeom>
          <a:noFill/>
          <a:ln/>
        </p:spPr>
        <p:txBody>
          <a:bodyPr wrap="square" lIns="0" tIns="0" rIns="0" bIns="0" rtlCol="0" anchor="t"/>
          <a:lstStyle>
            <a:lvl1pPr algn="l" indent="0" marL="0">
              <a:lnSpc>
                <a:spcPct val="140000"/>
              </a:lnSpc>
              <a:buNone/>
              <a:defRPr lang="en-US" sz="1600" dirty="0">
                <a:solidFill>
                  <a:srgbClr val="16202B"/>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02B"/>
        </a:solidFill>
      </p:bgPr>
    </p:bg>
    <p:spTree>
      <p:nvGrpSpPr>
        <p:cNvPr id="1" name=""/>
        <p:cNvGrpSpPr/>
        <p:nvPr/>
      </p:nvGrpSpPr>
      <p:grpSpPr>
        <a:xfrm>
          <a:off x="0" y="0"/>
          <a:ext cx="0" cy="0"/>
          <a:chOff x="0" y="0"/>
          <a:chExt cx="0" cy="0"/>
        </a:xfrm>
      </p:grpSpPr>
      <p:sp>
        <p:nvSpPr>
          <p:cNvPr id="2" name="Text 0"/>
          <p:cNvSpPr/>
          <p:nvPr/>
        </p:nvSpPr>
        <p:spPr>
          <a:xfrm>
            <a:off x="812800" y="1849239"/>
            <a:ext cx="627888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955A"/>
                </a:solidFill>
                <a:latin typeface="IBM Plex Sans" pitchFamily="34" charset="0"/>
                <a:ea typeface="IBM Plex Sans" pitchFamily="34" charset="-122"/>
                <a:cs typeface="IBM Plex Sans" pitchFamily="34" charset="-120"/>
              </a:rPr>
              <a:t>AI ACCELERATORS · IIIT DHARWAD · MILESTONE 1 REVIEW</a:t>
            </a:r>
            <a:endParaRPr lang="en-US" sz="1200" dirty="0"/>
          </a:p>
        </p:txBody>
      </p:sp>
      <p:sp>
        <p:nvSpPr>
          <p:cNvPr id="3" name="Text 1"/>
          <p:cNvSpPr/>
          <p:nvPr>
            <p:ph type="title"/>
          </p:nvPr>
        </p:nvSpPr>
        <p:spPr>
          <a:xfrm>
            <a:off x="812800" y="2265759"/>
            <a:ext cx="6278880" cy="787400"/>
          </a:xfrm>
          <a:prstGeom prst="rect">
            <a:avLst/>
          </a:prstGeom>
          <a:noFill/>
          <a:ln/>
        </p:spPr>
        <p:txBody>
          <a:bodyPr wrap="square" lIns="0" tIns="0" rIns="0" bIns="0" rtlCol="0" anchor="t">
            <a:normAutofit/>
          </a:bodyPr>
          <a:lstStyle/>
          <a:p>
            <a:pPr algn="l" indent="0" marL="0">
              <a:lnSpc>
                <a:spcPts val="6000"/>
              </a:lnSpc>
              <a:buNone/>
            </a:pPr>
            <a:r>
              <a:rPr lang="en-US" sz="6000" b="1" i="0" dirty="0">
                <a:solidFill>
                  <a:srgbClr val="F2EFE7"/>
                </a:solidFill>
                <a:latin typeface="IBM Plex Sans" pitchFamily="34" charset="0"/>
                <a:ea typeface="IBM Plex Sans" pitchFamily="34" charset="-122"/>
                <a:cs typeface="IBM Plex Sans" pitchFamily="34" charset="-120"/>
              </a:rPr>
              <a:t>AxMAC</a:t>
            </a:r>
            <a:endParaRPr lang="en-US" sz="6000" dirty="0"/>
          </a:p>
        </p:txBody>
      </p:sp>
      <p:sp>
        <p:nvSpPr>
          <p:cNvPr id="4" name="Text 2"/>
          <p:cNvSpPr/>
          <p:nvPr/>
        </p:nvSpPr>
        <p:spPr>
          <a:xfrm>
            <a:off x="812800" y="3230959"/>
            <a:ext cx="6278880"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2EFE7"/>
                </a:solidFill>
                <a:latin typeface="IBM Plex Sans" pitchFamily="34" charset="0"/>
                <a:ea typeface="IBM Plex Sans" pitchFamily="34" charset="-122"/>
                <a:cs typeface="IBM Plex Sans" pitchFamily="34" charset="-120"/>
              </a:rPr>
              <a:t>A precision-scalable approximate MAC accelerator with open-source ASIC characterization</a:t>
            </a:r>
            <a:endParaRPr lang="en-US" sz="2000" dirty="0"/>
          </a:p>
        </p:txBody>
      </p:sp>
      <p:sp>
        <p:nvSpPr>
          <p:cNvPr id="5" name="Text 3"/>
          <p:cNvSpPr/>
          <p:nvPr/>
        </p:nvSpPr>
        <p:spPr>
          <a:xfrm>
            <a:off x="812800" y="4094559"/>
            <a:ext cx="627888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5CED8"/>
                </a:solidFill>
                <a:latin typeface="IBM Plex Sans" pitchFamily="34" charset="0"/>
                <a:ea typeface="IBM Plex Sans" pitchFamily="34" charset="-122"/>
                <a:cs typeface="IBM Plex Sans" pitchFamily="34" charset="-120"/>
              </a:rPr>
              <a:t>Durgesh Janapareddy </a:t>
            </a:r>
            <a:endParaRPr lang="en-US" sz="1400" dirty="0"/>
          </a:p>
          <a:p>
            <a:pPr algn="l" indent="0" marL="0">
              <a:lnSpc>
                <a:spcPts val="1960"/>
              </a:lnSpc>
              <a:buNone/>
            </a:pPr>
            <a:r>
              <a:rPr lang="en-US" sz="1400" dirty="0">
                <a:solidFill>
                  <a:srgbClr val="C5CED8"/>
                </a:solidFill>
                <a:latin typeface="IBM Plex Sans" pitchFamily="34" charset="0"/>
                <a:ea typeface="IBM Plex Sans" pitchFamily="34" charset="-122"/>
                <a:cs typeface="IBM Plex Sans" pitchFamily="34" charset="-120"/>
              </a:rPr>
              <a:t>Sairam Kesanapalli</a:t>
            </a:r>
            <a:endParaRPr lang="en-US" sz="1400" dirty="0"/>
          </a:p>
        </p:txBody>
      </p:sp>
      <p:sp>
        <p:nvSpPr>
          <p:cNvPr id="6" name="Text 4"/>
          <p:cNvSpPr/>
          <p:nvPr/>
        </p:nvSpPr>
        <p:spPr>
          <a:xfrm>
            <a:off x="812800" y="4795441"/>
            <a:ext cx="62788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B8F0"/>
                </a:solidFill>
                <a:latin typeface="JetBrains Mono" pitchFamily="49" charset="0"/>
                <a:ea typeface="JetBrains Mono" pitchFamily="49" charset="-122"/>
                <a:cs typeface="JetBrains Mono" pitchFamily="49" charset="-120"/>
              </a:rPr>
              <a:t>github.com/durgeshjanapareddy9-collab/PSAMAC-Accelerator</a:t>
            </a:r>
            <a:endParaRPr lang="en-US" sz="1200" dirty="0"/>
          </a:p>
        </p:txBody>
      </p:sp>
      <p:pic>
        <p:nvPicPr>
          <p:cNvPr id="7" name="Image 0" descr="Dot diagram of the 64 partial products of an 8x8 multiplier; the lowest four columns are shown as hollow orange dots (dropped)">    </p:cNvPr>
          <p:cNvPicPr>
            <a:picLocks noChangeAspect="1"/>
          </p:cNvPicPr>
          <p:nvPr/>
        </p:nvPicPr>
        <p:blipFill>
          <a:blip r:embed="rId1"/>
          <a:srcRect l="-73" r="-73" t="0" b="0"/>
          <a:stretch/>
        </p:blipFill>
        <p:spPr>
          <a:xfrm>
            <a:off x="7315200" y="2346325"/>
            <a:ext cx="4064000" cy="21653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4501B"/>
                </a:solidFill>
                <a:latin typeface="IBM Plex Sans" pitchFamily="34" charset="0"/>
                <a:ea typeface="IBM Plex Sans" pitchFamily="34" charset="-122"/>
                <a:cs typeface="IBM Plex Sans" pitchFamily="34" charset="-120"/>
              </a:rPr>
              <a:t>WHAT ARE WE DOING · WHY</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B"/>
                </a:solidFill>
                <a:latin typeface="IBM Plex Sans" pitchFamily="34" charset="0"/>
                <a:ea typeface="IBM Plex Sans" pitchFamily="34" charset="-122"/>
                <a:cs typeface="IBM Plex Sans" pitchFamily="34" charset="-120"/>
              </a:rPr>
              <a:t>One multiplier, one accuracy dial: N</a:t>
            </a:r>
            <a:endParaRPr lang="en-US" sz="3200" dirty="0"/>
          </a:p>
        </p:txBody>
      </p:sp>
      <p:sp>
        <p:nvSpPr>
          <p:cNvPr id="4" name="Shape 2"/>
          <p:cNvSpPr/>
          <p:nvPr/>
        </p:nvSpPr>
        <p:spPr>
          <a:xfrm>
            <a:off x="815975" y="1857276"/>
            <a:ext cx="5073650" cy="3981549"/>
          </a:xfrm>
          <a:prstGeom prst="roundRect">
            <a:avLst>
              <a:gd name="adj" fmla="val 2472"/>
            </a:avLst>
          </a:prstGeom>
          <a:solidFill>
            <a:srgbClr val="FFFFFF"/>
          </a:solidFill>
          <a:ln w="6350">
            <a:solidFill>
              <a:srgbClr val="DDD8CB"/>
            </a:solidFill>
            <a:prstDash val="solid"/>
          </a:ln>
        </p:spPr>
      </p:sp>
      <p:sp>
        <p:nvSpPr>
          <p:cNvPr id="5" name="Text 3"/>
          <p:cNvSpPr/>
          <p:nvPr/>
        </p:nvSpPr>
        <p:spPr>
          <a:xfrm>
            <a:off x="1123950" y="2165251"/>
            <a:ext cx="459143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02B"/>
                </a:solidFill>
                <a:latin typeface="IBM Plex Sans" pitchFamily="34" charset="0"/>
                <a:ea typeface="IBM Plex Sans" pitchFamily="34" charset="-122"/>
                <a:cs typeface="IBM Plex Sans" pitchFamily="34" charset="-120"/>
              </a:rPr>
              <a:t>What we are building</a:t>
            </a:r>
            <a:endParaRPr lang="en-US" sz="1400" dirty="0"/>
          </a:p>
        </p:txBody>
      </p:sp>
      <p:sp>
        <p:nvSpPr>
          <p:cNvPr id="6" name="Text 4"/>
          <p:cNvSpPr/>
          <p:nvPr/>
        </p:nvSpPr>
        <p:spPr>
          <a:xfrm>
            <a:off x="1123950" y="2708771"/>
            <a:ext cx="6502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202B"/>
                </a:solidFill>
                <a:latin typeface="JetBrains Mono" pitchFamily="49" charset="0"/>
                <a:ea typeface="JetBrains Mono" pitchFamily="49" charset="-122"/>
                <a:cs typeface="JetBrains Mono" pitchFamily="49" charset="-120"/>
              </a:rPr>
              <a:t>a[7:0]</a:t>
            </a:r>
            <a:endParaRPr lang="en-US" sz="1200" dirty="0"/>
          </a:p>
        </p:txBody>
      </p:sp>
      <p:sp>
        <p:nvSpPr>
          <p:cNvPr id="7" name="Text 5"/>
          <p:cNvSpPr/>
          <p:nvPr/>
        </p:nvSpPr>
        <p:spPr>
          <a:xfrm>
            <a:off x="1123950" y="2998291"/>
            <a:ext cx="6502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202B"/>
                </a:solidFill>
                <a:latin typeface="JetBrains Mono" pitchFamily="49" charset="0"/>
                <a:ea typeface="JetBrains Mono" pitchFamily="49" charset="-122"/>
                <a:cs typeface="JetBrains Mono" pitchFamily="49" charset="-120"/>
              </a:rPr>
              <a:t>b[7:0]</a:t>
            </a:r>
            <a:endParaRPr lang="en-US" sz="1200" dirty="0"/>
          </a:p>
        </p:txBody>
      </p:sp>
      <p:pic>
        <p:nvPicPr>
          <p:cNvPr id="8" name="Image 0" descr="arrow-right">    </p:cNvPr>
          <p:cNvPicPr>
            <a:picLocks noChangeAspect="1"/>
          </p:cNvPicPr>
          <p:nvPr/>
        </p:nvPicPr>
        <p:blipFill>
          <a:blip r:embed="rId1"/>
          <a:srcRect l="0" r="0" t="0" b="0"/>
          <a:stretch/>
        </p:blipFill>
        <p:spPr>
          <a:xfrm>
            <a:off x="1774230" y="2883991"/>
            <a:ext cx="304800" cy="152400"/>
          </a:xfrm>
          <a:prstGeom prst="rect">
            <a:avLst/>
          </a:prstGeom>
        </p:spPr>
      </p:pic>
      <p:sp>
        <p:nvSpPr>
          <p:cNvPr id="9" name="Shape 6"/>
          <p:cNvSpPr/>
          <p:nvPr/>
        </p:nvSpPr>
        <p:spPr>
          <a:xfrm>
            <a:off x="2180630" y="2581771"/>
            <a:ext cx="2252861" cy="756841"/>
          </a:xfrm>
          <a:prstGeom prst="roundRect">
            <a:avLst>
              <a:gd name="adj" fmla="val 10068"/>
            </a:avLst>
          </a:prstGeom>
          <a:solidFill>
            <a:srgbClr val="16202B"/>
          </a:solidFill>
          <a:ln/>
        </p:spPr>
      </p:sp>
      <p:sp>
        <p:nvSpPr>
          <p:cNvPr id="10" name="Text 7"/>
          <p:cNvSpPr/>
          <p:nvPr/>
        </p:nvSpPr>
        <p:spPr>
          <a:xfrm>
            <a:off x="2333030" y="2734171"/>
            <a:ext cx="200650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EFE7"/>
                </a:solidFill>
                <a:latin typeface="JetBrains Mono" pitchFamily="49" charset="0"/>
                <a:ea typeface="JetBrains Mono" pitchFamily="49" charset="-122"/>
                <a:cs typeface="JetBrains Mono" pitchFamily="49" charset="-120"/>
              </a:rPr>
              <a:t>approx_mul #(N)</a:t>
            </a:r>
            <a:endParaRPr lang="en-US" sz="1200" dirty="0"/>
          </a:p>
        </p:txBody>
      </p:sp>
      <p:sp>
        <p:nvSpPr>
          <p:cNvPr id="11" name="Text 8"/>
          <p:cNvSpPr/>
          <p:nvPr/>
        </p:nvSpPr>
        <p:spPr>
          <a:xfrm>
            <a:off x="2333030" y="2972891"/>
            <a:ext cx="200650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5CED8"/>
                </a:solidFill>
                <a:latin typeface="IBM Plex Sans" pitchFamily="34" charset="0"/>
                <a:ea typeface="IBM Plex Sans" pitchFamily="34" charset="-122"/>
                <a:cs typeface="IBM Plex Sans" pitchFamily="34" charset="-120"/>
              </a:rPr>
              <a:t>8×8 Dadda tree</a:t>
            </a:r>
            <a:endParaRPr lang="en-US" sz="1200" dirty="0"/>
          </a:p>
        </p:txBody>
      </p:sp>
      <p:pic>
        <p:nvPicPr>
          <p:cNvPr id="12" name="Image 1" descr="arrow-right">    </p:cNvPr>
          <p:cNvPicPr>
            <a:picLocks noChangeAspect="1"/>
          </p:cNvPicPr>
          <p:nvPr/>
        </p:nvPicPr>
        <p:blipFill>
          <a:blip r:embed="rId2"/>
          <a:srcRect l="0" r="0" t="0" b="0"/>
          <a:stretch/>
        </p:blipFill>
        <p:spPr>
          <a:xfrm>
            <a:off x="4535091" y="2883991"/>
            <a:ext cx="304800" cy="152400"/>
          </a:xfrm>
          <a:prstGeom prst="rect">
            <a:avLst/>
          </a:prstGeom>
        </p:spPr>
      </p:pic>
      <p:sp>
        <p:nvSpPr>
          <p:cNvPr id="13" name="Text 9"/>
          <p:cNvSpPr/>
          <p:nvPr/>
        </p:nvSpPr>
        <p:spPr>
          <a:xfrm>
            <a:off x="4941491" y="2853531"/>
            <a:ext cx="76819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202B"/>
                </a:solidFill>
                <a:latin typeface="JetBrains Mono" pitchFamily="49" charset="0"/>
                <a:ea typeface="JetBrains Mono" pitchFamily="49" charset="-122"/>
                <a:cs typeface="JetBrains Mono" pitchFamily="49" charset="-120"/>
              </a:rPr>
              <a:t>p[15:0]</a:t>
            </a:r>
            <a:endParaRPr lang="en-US" sz="1200" dirty="0"/>
          </a:p>
        </p:txBody>
      </p:sp>
      <p:sp>
        <p:nvSpPr>
          <p:cNvPr id="14" name="Shape 10"/>
          <p:cNvSpPr/>
          <p:nvPr/>
        </p:nvSpPr>
        <p:spPr>
          <a:xfrm>
            <a:off x="1123950" y="3541812"/>
            <a:ext cx="4457700" cy="152400"/>
          </a:xfrm>
          <a:prstGeom prst="roundRect">
            <a:avLst>
              <a:gd name="adj" fmla="val 50000"/>
            </a:avLst>
          </a:prstGeom>
          <a:gradFill rotWithShape="1">
            <a:gsLst>
              <a:gs pos="0">
                <a:srgbClr val="2563A8"/>
              </a:gs>
              <a:gs pos="100000">
                <a:srgbClr val="C4501B"/>
              </a:gs>
            </a:gsLst>
            <a:lin ang="0" scaled="0"/>
          </a:gradFill>
          <a:ln/>
        </p:spPr>
      </p:sp>
      <p:sp>
        <p:nvSpPr>
          <p:cNvPr id="15" name="Text 11"/>
          <p:cNvSpPr/>
          <p:nvPr/>
        </p:nvSpPr>
        <p:spPr>
          <a:xfrm>
            <a:off x="1123950" y="3770412"/>
            <a:ext cx="100203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563A8"/>
                </a:solidFill>
                <a:latin typeface="IBM Plex Sans" pitchFamily="34" charset="0"/>
                <a:ea typeface="IBM Plex Sans" pitchFamily="34" charset="-122"/>
                <a:cs typeface="IBM Plex Sans" pitchFamily="34" charset="-120"/>
              </a:rPr>
              <a:t>N = 0: exact</a:t>
            </a:r>
            <a:endParaRPr lang="en-US" sz="1200" dirty="0"/>
          </a:p>
        </p:txBody>
      </p:sp>
      <p:sp>
        <p:nvSpPr>
          <p:cNvPr id="16" name="Text 12"/>
          <p:cNvSpPr/>
          <p:nvPr/>
        </p:nvSpPr>
        <p:spPr>
          <a:xfrm>
            <a:off x="3190161" y="3770412"/>
            <a:ext cx="2391489"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C4501B"/>
                </a:solidFill>
                <a:latin typeface="IBM Plex Sans" pitchFamily="34" charset="0"/>
                <a:ea typeface="IBM Plex Sans" pitchFamily="34" charset="-122"/>
                <a:cs typeface="IBM Plex Sans" pitchFamily="34" charset="-120"/>
              </a:rPr>
              <a:t>N = 12: smallest, least exact</a:t>
            </a:r>
            <a:endParaRPr lang="en-US" sz="1200" dirty="0"/>
          </a:p>
        </p:txBody>
      </p:sp>
      <p:sp>
        <p:nvSpPr>
          <p:cNvPr id="17" name="Text 13"/>
          <p:cNvSpPr/>
          <p:nvPr/>
        </p:nvSpPr>
        <p:spPr>
          <a:xfrm>
            <a:off x="1123950" y="4186932"/>
            <a:ext cx="4591431" cy="102076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752"/>
                </a:solidFill>
                <a:latin typeface="IBM Plex Sans" pitchFamily="34" charset="0"/>
                <a:ea typeface="IBM Plex Sans" pitchFamily="34" charset="-122"/>
                <a:cs typeface="IBM Plex Sans" pitchFamily="34" charset="-120"/>
              </a:rPr>
              <a:t>N is a compile-time parameter: the lowest N columns of partial products are dropped. Then we measure how much error each N causes, and how much area, delay and power it saves.</a:t>
            </a:r>
            <a:endParaRPr lang="en-US" sz="1400" dirty="0"/>
          </a:p>
        </p:txBody>
      </p:sp>
      <p:sp>
        <p:nvSpPr>
          <p:cNvPr id="18" name="Text 14"/>
          <p:cNvSpPr/>
          <p:nvPr/>
        </p:nvSpPr>
        <p:spPr>
          <a:xfrm>
            <a:off x="6299200" y="2476698"/>
            <a:ext cx="52324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02B"/>
                </a:solidFill>
                <a:latin typeface="IBM Plex Sans" pitchFamily="34" charset="0"/>
                <a:ea typeface="IBM Plex Sans" pitchFamily="34" charset="-122"/>
                <a:cs typeface="IBM Plex Sans" pitchFamily="34" charset="-120"/>
              </a:rPr>
              <a:t>CNN inference is mostly multiply-accumulate</a:t>
            </a:r>
            <a:endParaRPr lang="en-US" sz="1400" dirty="0"/>
          </a:p>
        </p:txBody>
      </p:sp>
      <p:sp>
        <p:nvSpPr>
          <p:cNvPr id="19" name="Text 15"/>
          <p:cNvSpPr/>
          <p:nvPr/>
        </p:nvSpPr>
        <p:spPr>
          <a:xfrm>
            <a:off x="6299200" y="2740819"/>
            <a:ext cx="523240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752"/>
                </a:solidFill>
                <a:latin typeface="IBM Plex Sans" pitchFamily="34" charset="0"/>
                <a:ea typeface="IBM Plex Sans" pitchFamily="34" charset="-122"/>
                <a:cs typeface="IBM Plex Sans" pitchFamily="34" charset="-120"/>
              </a:rPr>
              <a:t>Every convolution and fully-connected layer repeats the same MAC operation, so the multiplier's cost is multiplied too.</a:t>
            </a:r>
            <a:endParaRPr lang="en-US" sz="1400" dirty="0"/>
          </a:p>
        </p:txBody>
      </p:sp>
      <p:sp>
        <p:nvSpPr>
          <p:cNvPr id="20" name="Text 16"/>
          <p:cNvSpPr/>
          <p:nvPr/>
        </p:nvSpPr>
        <p:spPr>
          <a:xfrm>
            <a:off x="6299200" y="3467100"/>
            <a:ext cx="52324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02B"/>
                </a:solidFill>
                <a:latin typeface="IBM Plex Sans" pitchFamily="34" charset="0"/>
                <a:ea typeface="IBM Plex Sans" pitchFamily="34" charset="-122"/>
                <a:cs typeface="IBM Plex Sans" pitchFamily="34" charset="-120"/>
              </a:rPr>
              <a:t>Approximation trades accuracy for hardware</a:t>
            </a:r>
            <a:endParaRPr lang="en-US" sz="1400" dirty="0"/>
          </a:p>
        </p:txBody>
      </p:sp>
      <p:sp>
        <p:nvSpPr>
          <p:cNvPr id="21" name="Text 17"/>
          <p:cNvSpPr/>
          <p:nvPr/>
        </p:nvSpPr>
        <p:spPr>
          <a:xfrm>
            <a:off x="6299200" y="3731220"/>
            <a:ext cx="523240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752"/>
                </a:solidFill>
                <a:latin typeface="IBM Plex Sans" pitchFamily="34" charset="0"/>
                <a:ea typeface="IBM Plex Sans" pitchFamily="34" charset="-122"/>
                <a:cs typeface="IBM Plex Sans" pitchFamily="34" charset="-120"/>
              </a:rPr>
              <a:t>Approximate multipliers give up a little accuracy to save area and power, or to run faster.</a:t>
            </a:r>
            <a:endParaRPr lang="en-US" sz="1400" dirty="0"/>
          </a:p>
        </p:txBody>
      </p:sp>
      <p:sp>
        <p:nvSpPr>
          <p:cNvPr id="22" name="Text 18"/>
          <p:cNvSpPr/>
          <p:nvPr/>
        </p:nvSpPr>
        <p:spPr>
          <a:xfrm>
            <a:off x="6299200" y="4457502"/>
            <a:ext cx="52324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02B"/>
                </a:solidFill>
                <a:latin typeface="IBM Plex Sans" pitchFamily="34" charset="0"/>
                <a:ea typeface="IBM Plex Sans" pitchFamily="34" charset="-122"/>
                <a:cs typeface="IBM Plex Sans" pitchFamily="34" charset="-120"/>
              </a:rPr>
              <a:t>A dial instead of a few fixed designs</a:t>
            </a:r>
            <a:endParaRPr lang="en-US" sz="1400" dirty="0"/>
          </a:p>
        </p:txBody>
      </p:sp>
      <p:sp>
        <p:nvSpPr>
          <p:cNvPr id="23" name="Text 19"/>
          <p:cNvSpPr/>
          <p:nvPr/>
        </p:nvSpPr>
        <p:spPr>
          <a:xfrm>
            <a:off x="6299200" y="4721622"/>
            <a:ext cx="523240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752"/>
                </a:solidFill>
                <a:latin typeface="IBM Plex Sans" pitchFamily="34" charset="0"/>
                <a:ea typeface="IBM Plex Sans" pitchFamily="34" charset="-122"/>
                <a:cs typeface="IBM Plex Sans" pitchFamily="34" charset="-120"/>
              </a:rPr>
              <a:t>Published designs usually offer a few fixed accuracy points. A dial lets you pick the point your application can afford.</a:t>
            </a:r>
            <a:endParaRPr lang="en-US" sz="1400" dirty="0"/>
          </a:p>
        </p:txBody>
      </p:sp>
      <p:sp>
        <p:nvSpPr>
          <p:cNvPr id="24" name="Text 20"/>
          <p:cNvSpPr/>
          <p:nvPr/>
        </p:nvSpPr>
        <p:spPr>
          <a:xfrm>
            <a:off x="812800" y="6235700"/>
            <a:ext cx="1687711" cy="2413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3"/>
                </a:solidFill>
                <a:latin typeface="IBM Plex Sans" pitchFamily="34" charset="0"/>
                <a:ea typeface="IBM Plex Sans" pitchFamily="34" charset="-122"/>
                <a:cs typeface="IBM Plex Sans" pitchFamily="34" charset="-120"/>
              </a:rPr>
              <a:t>AxMAC · Milestone 1</a:t>
            </a:r>
            <a:endParaRPr lang="en-US" sz="1200" dirty="0"/>
          </a:p>
        </p:txBody>
      </p:sp>
      <p:sp>
        <p:nvSpPr>
          <p:cNvPr id="25" name="Text 21"/>
          <p:cNvSpPr/>
          <p:nvPr/>
        </p:nvSpPr>
        <p:spPr>
          <a:xfrm>
            <a:off x="11236920" y="6235700"/>
            <a:ext cx="142280" cy="24130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3"/>
                </a:solidFill>
                <a:latin typeface="IBM Plex Sans" pitchFamily="34" charset="0"/>
                <a:ea typeface="IBM Plex Sans" pitchFamily="34" charset="-122"/>
                <a:cs typeface="IBM Plex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202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955A"/>
                </a:solidFill>
                <a:latin typeface="IBM Plex Sans" pitchFamily="34" charset="0"/>
                <a:ea typeface="IBM Plex Sans" pitchFamily="34" charset="-122"/>
                <a:cs typeface="IBM Plex Sans" pitchFamily="34" charset="-120"/>
              </a:rPr>
              <a:t>WHAT IS THE GAP · HOW WE FILL IT</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2EFE7"/>
                </a:solidFill>
                <a:latin typeface="IBM Plex Sans" pitchFamily="34" charset="0"/>
                <a:ea typeface="IBM Plex Sans" pitchFamily="34" charset="-122"/>
                <a:cs typeface="IBM Plex Sans" pitchFamily="34" charset="-120"/>
              </a:rPr>
              <a:t>The gap we are filling</a:t>
            </a:r>
            <a:endParaRPr lang="en-US" sz="3200" dirty="0"/>
          </a:p>
        </p:txBody>
      </p:sp>
      <p:sp>
        <p:nvSpPr>
          <p:cNvPr id="4" name="Text 2"/>
          <p:cNvSpPr/>
          <p:nvPr/>
        </p:nvSpPr>
        <p:spPr>
          <a:xfrm>
            <a:off x="812800" y="1752501"/>
            <a:ext cx="389680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A96A3"/>
                </a:solidFill>
                <a:latin typeface="IBM Plex Sans" pitchFamily="34" charset="0"/>
                <a:ea typeface="IBM Plex Sans" pitchFamily="34" charset="-122"/>
                <a:cs typeface="IBM Plex Sans" pitchFamily="34" charset="-120"/>
              </a:rPr>
              <a:t>CLOSELY RELATED WORK</a:t>
            </a:r>
            <a:endParaRPr lang="en-US" sz="1200" dirty="0"/>
          </a:p>
        </p:txBody>
      </p:sp>
      <p:sp>
        <p:nvSpPr>
          <p:cNvPr id="5" name="Text 3"/>
          <p:cNvSpPr/>
          <p:nvPr/>
        </p:nvSpPr>
        <p:spPr>
          <a:xfrm>
            <a:off x="4697710" y="1752501"/>
            <a:ext cx="288037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A96A3"/>
                </a:solidFill>
                <a:latin typeface="IBM Plex Sans" pitchFamily="34" charset="0"/>
                <a:ea typeface="IBM Plex Sans" pitchFamily="34" charset="-122"/>
                <a:cs typeface="IBM Plex Sans" pitchFamily="34" charset="-120"/>
              </a:rPr>
              <a:t>THE GAP</a:t>
            </a:r>
            <a:endParaRPr lang="en-US" sz="1200" dirty="0"/>
          </a:p>
        </p:txBody>
      </p:sp>
      <p:sp>
        <p:nvSpPr>
          <p:cNvPr id="6" name="Text 4"/>
          <p:cNvSpPr/>
          <p:nvPr/>
        </p:nvSpPr>
        <p:spPr>
          <a:xfrm>
            <a:off x="7595791" y="1752501"/>
            <a:ext cx="389691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A96A3"/>
                </a:solidFill>
                <a:latin typeface="IBM Plex Sans" pitchFamily="34" charset="0"/>
                <a:ea typeface="IBM Plex Sans" pitchFamily="34" charset="-122"/>
                <a:cs typeface="IBM Plex Sans" pitchFamily="34" charset="-120"/>
              </a:rPr>
              <a:t>WHAT WE DO</a:t>
            </a:r>
            <a:endParaRPr lang="en-US" sz="1200" dirty="0"/>
          </a:p>
        </p:txBody>
      </p:sp>
      <p:sp>
        <p:nvSpPr>
          <p:cNvPr id="7" name="Text 5"/>
          <p:cNvSpPr/>
          <p:nvPr/>
        </p:nvSpPr>
        <p:spPr>
          <a:xfrm>
            <a:off x="812800" y="2067421"/>
            <a:ext cx="3783310" cy="944761"/>
          </a:xfrm>
          <a:prstGeom prst="roundRect">
            <a:avLst>
              <a:gd name="adj" fmla="val 8066"/>
            </a:avLst>
          </a:prstGeom>
          <a:solidFill>
            <a:srgbClr val="1F2B38"/>
          </a:solidFill>
          <a:ln/>
        </p:spPr>
        <p:txBody>
          <a:bodyPr wrap="square" lIns="130082" tIns="130082" rIns="25726" bIns="104682" rtlCol="0" anchor="t">
            <a:normAutofit/>
          </a:bodyPr>
          <a:lstStyle/>
          <a:p>
            <a:pPr algn="l" indent="0" marL="0">
              <a:lnSpc>
                <a:spcPts val="1680"/>
              </a:lnSpc>
              <a:buNone/>
            </a:pPr>
            <a:r>
              <a:rPr lang="en-US" sz="1200" dirty="0">
                <a:solidFill>
                  <a:srgbClr val="C5CED8"/>
                </a:solidFill>
                <a:latin typeface="IBM Plex Sans" pitchFamily="34" charset="0"/>
                <a:ea typeface="IBM Plex Sans" pitchFamily="34" charset="-122"/>
                <a:cs typeface="IBM Plex Sans" pitchFamily="34" charset="-120"/>
              </a:rPr>
              <a:t>Rather et al. 2025: two FPGA design points. X-Dadda: approximate width is one knob among several.</a:t>
            </a:r>
            <a:endParaRPr lang="en-US" sz="1200" dirty="0"/>
          </a:p>
        </p:txBody>
      </p:sp>
      <p:sp>
        <p:nvSpPr>
          <p:cNvPr id="8" name="Text 6"/>
          <p:cNvSpPr/>
          <p:nvPr/>
        </p:nvSpPr>
        <p:spPr>
          <a:xfrm>
            <a:off x="4697710" y="2067421"/>
            <a:ext cx="2796480" cy="944761"/>
          </a:xfrm>
          <a:prstGeom prst="roundRect">
            <a:avLst>
              <a:gd name="adj" fmla="val 8066"/>
            </a:avLst>
          </a:prstGeom>
          <a:solidFill>
            <a:srgbClr val="1F2B38"/>
          </a:solidFill>
          <a:ln/>
        </p:spPr>
        <p:txBody>
          <a:bodyPr wrap="square" lIns="130082" tIns="130082" rIns="55331" bIns="104682" rtlCol="0" anchor="t">
            <a:normAutofit/>
          </a:bodyPr>
          <a:lstStyle/>
          <a:p>
            <a:pPr algn="l" indent="0" marL="0">
              <a:lnSpc>
                <a:spcPts val="1680"/>
              </a:lnSpc>
              <a:buNone/>
            </a:pPr>
            <a:r>
              <a:rPr lang="en-US" sz="1200" b="1" dirty="0">
                <a:solidFill>
                  <a:srgbClr val="F2EFE7"/>
                </a:solidFill>
                <a:latin typeface="IBM Plex Sans" pitchFamily="34" charset="0"/>
                <a:ea typeface="IBM Plex Sans" pitchFamily="34" charset="-122"/>
                <a:cs typeface="IBM Plex Sans" pitchFamily="34" charset="-120"/>
              </a:rPr>
              <a:t>Only a few points on the accuracy vs cost curve</a:t>
            </a:r>
            <a:endParaRPr lang="en-US" sz="1200" dirty="0"/>
          </a:p>
        </p:txBody>
      </p:sp>
      <p:sp>
        <p:nvSpPr>
          <p:cNvPr id="9" name="Text 7"/>
          <p:cNvSpPr/>
          <p:nvPr/>
        </p:nvSpPr>
        <p:spPr>
          <a:xfrm>
            <a:off x="7595791" y="2067421"/>
            <a:ext cx="3783409" cy="944761"/>
          </a:xfrm>
          <a:prstGeom prst="roundRect">
            <a:avLst>
              <a:gd name="adj" fmla="val 8066"/>
            </a:avLst>
          </a:prstGeom>
          <a:solidFill>
            <a:srgbClr val="F0955A"/>
          </a:solidFill>
          <a:ln/>
        </p:spPr>
        <p:txBody>
          <a:bodyPr wrap="square" lIns="130082" tIns="130082" rIns="25724" bIns="104682" rtlCol="0" anchor="t">
            <a:normAutofit/>
          </a:bodyPr>
          <a:lstStyle/>
          <a:p>
            <a:pPr algn="l" indent="0" marL="0">
              <a:lnSpc>
                <a:spcPts val="1680"/>
              </a:lnSpc>
              <a:buNone/>
            </a:pPr>
            <a:r>
              <a:rPr lang="en-US" sz="1200" b="1" dirty="0">
                <a:solidFill>
                  <a:srgbClr val="16202B"/>
                </a:solidFill>
                <a:latin typeface="IBM Plex Sans" pitchFamily="34" charset="0"/>
                <a:ea typeface="IBM Plex Sans" pitchFamily="34" charset="-122"/>
                <a:cs typeface="IBM Plex Sans" pitchFamily="34" charset="-120"/>
              </a:rPr>
              <a:t>One parameter N</a:t>
            </a:r>
            <a:r>
              <a:rPr lang="en-US" sz="1200" dirty="0">
                <a:solidFill>
                  <a:srgbClr val="16202B"/>
                </a:solidFill>
                <a:latin typeface="IBM Plex Sans" pitchFamily="34" charset="0"/>
                <a:ea typeface="IBM Plex Sans" pitchFamily="34" charset="-122"/>
                <a:cs typeface="IBM Plex Sans" pitchFamily="34" charset="-120"/>
              </a:rPr>
              <a:t> covers the whole truncation range: a full sweep, N = 0 to 12 (13 designs).</a:t>
            </a:r>
            <a:endParaRPr lang="en-US" sz="1200" dirty="0"/>
          </a:p>
        </p:txBody>
      </p:sp>
      <p:sp>
        <p:nvSpPr>
          <p:cNvPr id="10" name="Text 8"/>
          <p:cNvSpPr/>
          <p:nvPr/>
        </p:nvSpPr>
        <p:spPr>
          <a:xfrm>
            <a:off x="812800" y="3113782"/>
            <a:ext cx="3783310" cy="944761"/>
          </a:xfrm>
          <a:prstGeom prst="roundRect">
            <a:avLst>
              <a:gd name="adj" fmla="val 8066"/>
            </a:avLst>
          </a:prstGeom>
          <a:solidFill>
            <a:srgbClr val="1F2B38"/>
          </a:solidFill>
          <a:ln/>
        </p:spPr>
        <p:txBody>
          <a:bodyPr wrap="square" lIns="130082" tIns="130082" rIns="25726" bIns="104682" rtlCol="0" anchor="t">
            <a:normAutofit/>
          </a:bodyPr>
          <a:lstStyle/>
          <a:p>
            <a:pPr algn="l" indent="0" marL="0">
              <a:lnSpc>
                <a:spcPts val="1680"/>
              </a:lnSpc>
              <a:buNone/>
            </a:pPr>
            <a:r>
              <a:rPr lang="en-US" sz="1200" dirty="0">
                <a:solidFill>
                  <a:srgbClr val="C5CED8"/>
                </a:solidFill>
                <a:latin typeface="IBM Plex Sans" pitchFamily="34" charset="0"/>
                <a:ea typeface="IBM Plex Sans" pitchFamily="34" charset="-122"/>
                <a:cs typeface="IBM Plex Sans" pitchFamily="34" charset="-120"/>
              </a:rPr>
              <a:t>Rather et al. observed that image quality tracks EDmax and how often it occurs, not just MED/NMED.</a:t>
            </a:r>
            <a:endParaRPr lang="en-US" sz="1200" dirty="0"/>
          </a:p>
        </p:txBody>
      </p:sp>
      <p:sp>
        <p:nvSpPr>
          <p:cNvPr id="11" name="Text 9"/>
          <p:cNvSpPr/>
          <p:nvPr/>
        </p:nvSpPr>
        <p:spPr>
          <a:xfrm>
            <a:off x="4697710" y="3113782"/>
            <a:ext cx="2796480" cy="944761"/>
          </a:xfrm>
          <a:prstGeom prst="roundRect">
            <a:avLst>
              <a:gd name="adj" fmla="val 8066"/>
            </a:avLst>
          </a:prstGeom>
          <a:solidFill>
            <a:srgbClr val="1F2B38"/>
          </a:solidFill>
          <a:ln/>
        </p:spPr>
        <p:txBody>
          <a:bodyPr wrap="square" lIns="130082" tIns="130082" rIns="55331" bIns="104682" rtlCol="0" anchor="t">
            <a:normAutofit/>
          </a:bodyPr>
          <a:lstStyle/>
          <a:p>
            <a:pPr algn="l" indent="0" marL="0">
              <a:lnSpc>
                <a:spcPts val="1680"/>
              </a:lnSpc>
              <a:buNone/>
            </a:pPr>
            <a:r>
              <a:rPr lang="en-US" sz="1200" b="1" dirty="0">
                <a:solidFill>
                  <a:srgbClr val="F2EFE7"/>
                </a:solidFill>
                <a:latin typeface="IBM Plex Sans" pitchFamily="34" charset="0"/>
                <a:ea typeface="IBM Plex Sans" pitchFamily="34" charset="-122"/>
                <a:cs typeface="IBM Plex Sans" pitchFamily="34" charset="-120"/>
              </a:rPr>
              <a:t>One study's observation, worth a systematic test</a:t>
            </a:r>
            <a:endParaRPr lang="en-US" sz="1200" dirty="0"/>
          </a:p>
        </p:txBody>
      </p:sp>
      <p:sp>
        <p:nvSpPr>
          <p:cNvPr id="12" name="Text 10"/>
          <p:cNvSpPr/>
          <p:nvPr/>
        </p:nvSpPr>
        <p:spPr>
          <a:xfrm>
            <a:off x="7595791" y="3113782"/>
            <a:ext cx="3783409" cy="944761"/>
          </a:xfrm>
          <a:prstGeom prst="roundRect">
            <a:avLst>
              <a:gd name="adj" fmla="val 8066"/>
            </a:avLst>
          </a:prstGeom>
          <a:solidFill>
            <a:srgbClr val="F0955A"/>
          </a:solidFill>
          <a:ln/>
        </p:spPr>
        <p:txBody>
          <a:bodyPr wrap="square" lIns="130082" tIns="130082" rIns="25724" bIns="104682" rtlCol="0" anchor="t">
            <a:normAutofit/>
          </a:bodyPr>
          <a:lstStyle/>
          <a:p>
            <a:pPr algn="l" indent="0" marL="0">
              <a:lnSpc>
                <a:spcPts val="1680"/>
              </a:lnSpc>
              <a:buNone/>
            </a:pPr>
            <a:r>
              <a:rPr lang="en-US" sz="1200" b="1" dirty="0">
                <a:solidFill>
                  <a:srgbClr val="16202B"/>
                </a:solidFill>
                <a:latin typeface="IBM Plex Sans" pitchFamily="34" charset="0"/>
                <a:ea typeface="IBM Plex Sans" pitchFamily="34" charset="-122"/>
                <a:cs typeface="IBM Plex Sans" pitchFamily="34" charset="-120"/>
              </a:rPr>
              <a:t>Test it:</a:t>
            </a:r>
            <a:r>
              <a:rPr lang="en-US" sz="1200" dirty="0">
                <a:solidFill>
                  <a:srgbClr val="16202B"/>
                </a:solidFill>
                <a:latin typeface="IBM Plex Sans" pitchFamily="34" charset="0"/>
                <a:ea typeface="IBM Plex Sans" pitchFamily="34" charset="-122"/>
                <a:cs typeface="IBM Plex Sans" pitchFamily="34" charset="-120"/>
              </a:rPr>
              <a:t> our sweep plus EvoApproxLib/TruMD baselines, image and CNN workloads, rank correlation.</a:t>
            </a:r>
            <a:endParaRPr lang="en-US" sz="1200" dirty="0"/>
          </a:p>
        </p:txBody>
      </p:sp>
      <p:sp>
        <p:nvSpPr>
          <p:cNvPr id="13" name="Text 11"/>
          <p:cNvSpPr/>
          <p:nvPr/>
        </p:nvSpPr>
        <p:spPr>
          <a:xfrm>
            <a:off x="812800" y="4160143"/>
            <a:ext cx="3783310" cy="944761"/>
          </a:xfrm>
          <a:prstGeom prst="roundRect">
            <a:avLst>
              <a:gd name="adj" fmla="val 8066"/>
            </a:avLst>
          </a:prstGeom>
          <a:solidFill>
            <a:srgbClr val="1F2B38"/>
          </a:solidFill>
          <a:ln/>
        </p:spPr>
        <p:txBody>
          <a:bodyPr wrap="square" lIns="130082" tIns="130082" rIns="25726" bIns="104682" rtlCol="0" anchor="t">
            <a:normAutofit/>
          </a:bodyPr>
          <a:lstStyle/>
          <a:p>
            <a:pPr algn="l" indent="0" marL="0">
              <a:lnSpc>
                <a:spcPts val="1680"/>
              </a:lnSpc>
              <a:buNone/>
            </a:pPr>
            <a:r>
              <a:rPr lang="en-US" sz="1200" dirty="0">
                <a:solidFill>
                  <a:srgbClr val="C5CED8"/>
                </a:solidFill>
                <a:latin typeface="IBM Plex Sans" pitchFamily="34" charset="0"/>
                <a:ea typeface="IBM Plex Sans" pitchFamily="34" charset="-122"/>
                <a:cs typeface="IBM Plex Sans" pitchFamily="34" charset="-120"/>
              </a:rPr>
              <a:t>Hardware numbers depend on the tools, process and flow used to get them.</a:t>
            </a:r>
            <a:endParaRPr lang="en-US" sz="1200" dirty="0"/>
          </a:p>
        </p:txBody>
      </p:sp>
      <p:sp>
        <p:nvSpPr>
          <p:cNvPr id="14" name="Text 12"/>
          <p:cNvSpPr/>
          <p:nvPr/>
        </p:nvSpPr>
        <p:spPr>
          <a:xfrm>
            <a:off x="4697710" y="4160143"/>
            <a:ext cx="2796480" cy="944761"/>
          </a:xfrm>
          <a:prstGeom prst="roundRect">
            <a:avLst>
              <a:gd name="adj" fmla="val 8066"/>
            </a:avLst>
          </a:prstGeom>
          <a:solidFill>
            <a:srgbClr val="1F2B38"/>
          </a:solidFill>
          <a:ln/>
        </p:spPr>
        <p:txBody>
          <a:bodyPr wrap="square" lIns="130082" tIns="130082" rIns="55331" bIns="104682" rtlCol="0" anchor="t">
            <a:normAutofit/>
          </a:bodyPr>
          <a:lstStyle/>
          <a:p>
            <a:pPr algn="l" indent="0" marL="0">
              <a:lnSpc>
                <a:spcPts val="1680"/>
              </a:lnSpc>
              <a:buNone/>
            </a:pPr>
            <a:r>
              <a:rPr lang="en-US" sz="1200" b="1" dirty="0">
                <a:solidFill>
                  <a:srgbClr val="F2EFE7"/>
                </a:solidFill>
                <a:latin typeface="IBM Plex Sans" pitchFamily="34" charset="0"/>
                <a:ea typeface="IBM Plex Sans" pitchFamily="34" charset="-122"/>
                <a:cs typeface="IBM Plex Sans" pitchFamily="34" charset="-120"/>
              </a:rPr>
              <a:t>Numbers anyone can re-run themselves</a:t>
            </a:r>
            <a:endParaRPr lang="en-US" sz="1200" dirty="0"/>
          </a:p>
        </p:txBody>
      </p:sp>
      <p:sp>
        <p:nvSpPr>
          <p:cNvPr id="15" name="Text 13"/>
          <p:cNvSpPr/>
          <p:nvPr/>
        </p:nvSpPr>
        <p:spPr>
          <a:xfrm>
            <a:off x="7595791" y="4160143"/>
            <a:ext cx="3783409" cy="944761"/>
          </a:xfrm>
          <a:prstGeom prst="roundRect">
            <a:avLst>
              <a:gd name="adj" fmla="val 8066"/>
            </a:avLst>
          </a:prstGeom>
          <a:solidFill>
            <a:srgbClr val="F0955A"/>
          </a:solidFill>
          <a:ln/>
        </p:spPr>
        <p:txBody>
          <a:bodyPr wrap="square" lIns="130082" tIns="130082" rIns="25724" bIns="104682" rtlCol="0" anchor="t">
            <a:normAutofit/>
          </a:bodyPr>
          <a:lstStyle/>
          <a:p>
            <a:pPr algn="l" indent="0" marL="0">
              <a:lnSpc>
                <a:spcPts val="1680"/>
              </a:lnSpc>
              <a:buNone/>
            </a:pPr>
            <a:r>
              <a:rPr lang="en-US" sz="1200" b="1" dirty="0">
                <a:solidFill>
                  <a:srgbClr val="16202B"/>
                </a:solidFill>
                <a:latin typeface="IBM Plex Sans" pitchFamily="34" charset="0"/>
                <a:ea typeface="IBM Plex Sans" pitchFamily="34" charset="-122"/>
                <a:cs typeface="IBM Plex Sans" pitchFamily="34" charset="-120"/>
              </a:rPr>
              <a:t>Fully open ASIC flow:</a:t>
            </a:r>
            <a:r>
              <a:rPr lang="en-US" sz="1200" dirty="0">
                <a:solidFill>
                  <a:srgbClr val="16202B"/>
                </a:solidFill>
                <a:latin typeface="IBM Plex Sans" pitchFamily="34" charset="0"/>
                <a:ea typeface="IBM Plex Sans" pitchFamily="34" charset="-122"/>
                <a:cs typeface="IBM Plex Sans" pitchFamily="34" charset="-120"/>
              </a:rPr>
              <a:t> Yosys + OpenSTA on SkyWater 130 nm; every number comes from a script.</a:t>
            </a:r>
            <a:endParaRPr lang="en-US" sz="1200" dirty="0"/>
          </a:p>
        </p:txBody>
      </p:sp>
      <p:sp>
        <p:nvSpPr>
          <p:cNvPr id="16" name="Text 14"/>
          <p:cNvSpPr/>
          <p:nvPr/>
        </p:nvSpPr>
        <p:spPr>
          <a:xfrm>
            <a:off x="812800" y="5308104"/>
            <a:ext cx="10883392" cy="467320"/>
          </a:xfrm>
          <a:prstGeom prst="rect">
            <a:avLst/>
          </a:prstGeom>
          <a:noFill/>
          <a:ln/>
        </p:spPr>
        <p:txBody>
          <a:bodyPr wrap="square" lIns="0" tIns="0" rIns="0" bIns="0" rtlCol="0" anchor="t">
            <a:normAutofit/>
          </a:bodyPr>
          <a:lstStyle/>
          <a:p>
            <a:pPr algn="l" indent="0" marL="0">
              <a:lnSpc>
                <a:spcPts val="1740"/>
              </a:lnSpc>
              <a:buNone/>
            </a:pPr>
            <a:r>
              <a:rPr lang="en-US" sz="1200" i="1" dirty="0">
                <a:solidFill>
                  <a:srgbClr val="C5CED8"/>
                </a:solidFill>
                <a:latin typeface="IBM Plex Sans" pitchFamily="34" charset="0"/>
                <a:ea typeface="IBM Plex Sans" pitchFamily="34" charset="-122"/>
                <a:cs typeface="IBM Plex Sans" pitchFamily="34" charset="-120"/>
              </a:rPr>
              <a:t>"The multiplier architecture, a Dadda tree with truncated low-order columns, is existing prior art. Our contribution is the parameterization, the open-flow characterization and the evaluation framework." Parameterized approximate multipliers themselves are not new (X-Dadda, TPU-Gen).</a:t>
            </a:r>
            <a:endParaRPr lang="en-US" sz="1200" dirty="0"/>
          </a:p>
        </p:txBody>
      </p:sp>
      <p:sp>
        <p:nvSpPr>
          <p:cNvPr id="17" name="Text 15"/>
          <p:cNvSpPr/>
          <p:nvPr/>
        </p:nvSpPr>
        <p:spPr>
          <a:xfrm>
            <a:off x="812800" y="6235700"/>
            <a:ext cx="1687711" cy="2413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6A3"/>
                </a:solidFill>
                <a:latin typeface="IBM Plex Sans" pitchFamily="34" charset="0"/>
                <a:ea typeface="IBM Plex Sans" pitchFamily="34" charset="-122"/>
                <a:cs typeface="IBM Plex Sans" pitchFamily="34" charset="-120"/>
              </a:rPr>
              <a:t>AxMAC · Milestone 1</a:t>
            </a:r>
            <a:endParaRPr lang="en-US" sz="1200" dirty="0"/>
          </a:p>
        </p:txBody>
      </p:sp>
      <p:sp>
        <p:nvSpPr>
          <p:cNvPr id="18" name="Text 16"/>
          <p:cNvSpPr/>
          <p:nvPr/>
        </p:nvSpPr>
        <p:spPr>
          <a:xfrm>
            <a:off x="11236920" y="6235700"/>
            <a:ext cx="142280" cy="24130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6A3"/>
                </a:solidFill>
                <a:latin typeface="IBM Plex Sans" pitchFamily="34" charset="0"/>
                <a:ea typeface="IBM Plex Sans" pitchFamily="34" charset="-122"/>
                <a:cs typeface="IBM Plex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14412"/>
          </a:xfrm>
          <a:prstGeom prst="rect">
            <a:avLst/>
          </a:prstGeom>
          <a:noFill/>
          <a:ln/>
        </p:spPr>
        <p:txBody>
          <a:bodyPr wrap="square" lIns="0" tIns="0" rIns="0" bIns="0" rtlCol="0" anchor="t">
            <a:normAutofit/>
          </a:bodyPr>
          <a:lstStyle/>
          <a:p>
            <a:pPr algn="l" indent="0" marL="0">
              <a:lnSpc>
                <a:spcPts val="1523"/>
              </a:lnSpc>
              <a:buNone/>
            </a:pPr>
            <a:r>
              <a:rPr lang="en-US" sz="1088" b="1" spc="150" kern="0" dirty="0">
                <a:solidFill>
                  <a:srgbClr val="C4501B"/>
                </a:solidFill>
                <a:latin typeface="IBM Plex Sans" pitchFamily="34" charset="0"/>
                <a:ea typeface="IBM Plex Sans" pitchFamily="34" charset="-122"/>
                <a:cs typeface="IBM Plex Sans" pitchFamily="34" charset="-120"/>
              </a:rPr>
              <a:t>HOW ARE WE DOING IT · THE DESIGN</a:t>
            </a:r>
            <a:endParaRPr lang="en-US" sz="1088" dirty="0"/>
          </a:p>
        </p:txBody>
      </p:sp>
      <p:sp>
        <p:nvSpPr>
          <p:cNvPr id="3" name="Text 1"/>
          <p:cNvSpPr/>
          <p:nvPr>
            <p:ph type="title"/>
          </p:nvPr>
        </p:nvSpPr>
        <p:spPr>
          <a:xfrm>
            <a:off x="812800" y="1078012"/>
            <a:ext cx="10883392" cy="421382"/>
          </a:xfrm>
          <a:prstGeom prst="rect">
            <a:avLst/>
          </a:prstGeom>
          <a:noFill/>
          <a:ln/>
        </p:spPr>
        <p:txBody>
          <a:bodyPr wrap="square" lIns="0" tIns="0" rIns="0" bIns="0" rtlCol="0" anchor="t">
            <a:normAutofit/>
          </a:bodyPr>
          <a:lstStyle/>
          <a:p>
            <a:pPr algn="l" indent="0" marL="0">
              <a:lnSpc>
                <a:spcPts val="3124"/>
              </a:lnSpc>
              <a:buNone/>
            </a:pPr>
            <a:r>
              <a:rPr lang="en-US" sz="2840" b="1" i="0" dirty="0">
                <a:solidFill>
                  <a:srgbClr val="16202B"/>
                </a:solidFill>
                <a:latin typeface="IBM Plex Sans" pitchFamily="34" charset="0"/>
                <a:ea typeface="IBM Plex Sans" pitchFamily="34" charset="-122"/>
                <a:cs typeface="IBM Plex Sans" pitchFamily="34" charset="-120"/>
              </a:rPr>
              <a:t>Drop the lowest N columns, keep the rest</a:t>
            </a:r>
            <a:endParaRPr lang="en-US" sz="2840" dirty="0"/>
          </a:p>
        </p:txBody>
      </p:sp>
      <p:sp>
        <p:nvSpPr>
          <p:cNvPr id="4" name="Shape 2"/>
          <p:cNvSpPr/>
          <p:nvPr/>
        </p:nvSpPr>
        <p:spPr>
          <a:xfrm>
            <a:off x="815975" y="1781969"/>
            <a:ext cx="8042275" cy="3633391"/>
          </a:xfrm>
          <a:prstGeom prst="roundRect">
            <a:avLst>
              <a:gd name="adj" fmla="val 2709"/>
            </a:avLst>
          </a:prstGeom>
          <a:solidFill>
            <a:srgbClr val="FFFFFF"/>
          </a:solidFill>
          <a:ln w="6350">
            <a:solidFill>
              <a:srgbClr val="DDD8CB"/>
            </a:solidFill>
            <a:prstDash val="solid"/>
          </a:ln>
        </p:spPr>
      </p:sp>
      <p:pic>
        <p:nvPicPr>
          <p:cNvPr id="5" name="Image 0" descr="Dot diagram of the 64 partial products of an 8x8 multiplier arranged by column; with N = 4 the ten dots in the four right-most columns are hollow orange (dropped) and the other 54 are solid blue (kept)">    </p:cNvPr>
          <p:cNvPicPr>
            <a:picLocks noChangeAspect="1"/>
          </p:cNvPicPr>
          <p:nvPr/>
        </p:nvPicPr>
        <p:blipFill>
          <a:blip r:embed="rId1"/>
          <a:srcRect l="0" r="0" t="0" b="0"/>
          <a:stretch/>
        </p:blipFill>
        <p:spPr>
          <a:xfrm>
            <a:off x="1073150" y="2039144"/>
            <a:ext cx="4572000" cy="2438400"/>
          </a:xfrm>
          <a:prstGeom prst="rect">
            <a:avLst/>
          </a:prstGeom>
        </p:spPr>
      </p:pic>
      <p:sp>
        <p:nvSpPr>
          <p:cNvPr id="6" name="Text 3"/>
          <p:cNvSpPr/>
          <p:nvPr/>
        </p:nvSpPr>
        <p:spPr>
          <a:xfrm>
            <a:off x="1073150" y="4604544"/>
            <a:ext cx="22971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3"/>
                </a:solidFill>
                <a:latin typeface="IBM Plex Sans" pitchFamily="34" charset="0"/>
                <a:ea typeface="IBM Plex Sans" pitchFamily="34" charset="-122"/>
                <a:cs typeface="IBM Plex Sans" pitchFamily="34" charset="-120"/>
              </a:rPr>
              <a:t>← column 14 (weight 2^14)</a:t>
            </a:r>
            <a:endParaRPr lang="en-US" sz="1200" dirty="0"/>
          </a:p>
        </p:txBody>
      </p:sp>
      <p:sp>
        <p:nvSpPr>
          <p:cNvPr id="7" name="Text 4"/>
          <p:cNvSpPr/>
          <p:nvPr/>
        </p:nvSpPr>
        <p:spPr>
          <a:xfrm>
            <a:off x="7116723" y="4604544"/>
            <a:ext cx="148435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3"/>
                </a:solidFill>
                <a:latin typeface="IBM Plex Sans" pitchFamily="34" charset="0"/>
                <a:ea typeface="IBM Plex Sans" pitchFamily="34" charset="-122"/>
                <a:cs typeface="IBM Plex Sans" pitchFamily="34" charset="-120"/>
              </a:rPr>
              <a:t>column 0 (2^0) →</a:t>
            </a:r>
            <a:endParaRPr lang="en-US" sz="1200" dirty="0"/>
          </a:p>
        </p:txBody>
      </p:sp>
      <p:sp>
        <p:nvSpPr>
          <p:cNvPr id="8" name="Text 5"/>
          <p:cNvSpPr/>
          <p:nvPr/>
        </p:nvSpPr>
        <p:spPr>
          <a:xfrm>
            <a:off x="1073150" y="4944864"/>
            <a:ext cx="778192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563A8"/>
                </a:solidFill>
                <a:latin typeface="IBM Plex Sans" pitchFamily="34" charset="0"/>
                <a:ea typeface="IBM Plex Sans" pitchFamily="34" charset="-122"/>
                <a:cs typeface="IBM Plex Sans" pitchFamily="34" charset="-120"/>
              </a:rPr>
              <a:t>Solid blue</a:t>
            </a:r>
            <a:r>
              <a:rPr lang="en-US" sz="1200" dirty="0">
                <a:solidFill>
                  <a:srgbClr val="3D4752"/>
                </a:solidFill>
                <a:latin typeface="IBM Plex Sans" pitchFamily="34" charset="0"/>
                <a:ea typeface="IBM Plex Sans" pitchFamily="34" charset="-122"/>
                <a:cs typeface="IBM Plex Sans" pitchFamily="34" charset="-120"/>
              </a:rPr>
              <a:t> = kept bit. </a:t>
            </a:r>
            <a:r>
              <a:rPr lang="en-US" sz="1200" b="1" dirty="0">
                <a:solidFill>
                  <a:srgbClr val="C4501B"/>
                </a:solidFill>
                <a:latin typeface="IBM Plex Sans" pitchFamily="34" charset="0"/>
                <a:ea typeface="IBM Plex Sans" pitchFamily="34" charset="-122"/>
                <a:cs typeface="IBM Plex Sans" pitchFamily="34" charset="-120"/>
              </a:rPr>
              <a:t>Hollow orange</a:t>
            </a:r>
            <a:r>
              <a:rPr lang="en-US" sz="1200" dirty="0">
                <a:solidFill>
                  <a:srgbClr val="3D4752"/>
                </a:solidFill>
                <a:latin typeface="IBM Plex Sans" pitchFamily="34" charset="0"/>
                <a:ea typeface="IBM Plex Sans" pitchFamily="34" charset="-122"/>
                <a:cs typeface="IBM Plex Sans" pitchFamily="34" charset="-120"/>
              </a:rPr>
              <a:t> = dropped (column i + j &lt; N). Shown: N = 4, which drops 10 of the 64 bits.</a:t>
            </a:r>
            <a:endParaRPr lang="en-US" sz="1200" dirty="0"/>
          </a:p>
        </p:txBody>
      </p:sp>
      <p:sp>
        <p:nvSpPr>
          <p:cNvPr id="9" name="Text 6"/>
          <p:cNvSpPr/>
          <p:nvPr/>
        </p:nvSpPr>
        <p:spPr>
          <a:xfrm>
            <a:off x="9318625" y="1778794"/>
            <a:ext cx="212239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02B"/>
                </a:solidFill>
                <a:latin typeface="IBM Plex Sans" pitchFamily="34" charset="0"/>
                <a:ea typeface="IBM Plex Sans" pitchFamily="34" charset="-122"/>
                <a:cs typeface="IBM Plex Sans" pitchFamily="34" charset="-120"/>
              </a:rPr>
              <a:t>1 · Partial products</a:t>
            </a:r>
            <a:endParaRPr lang="en-US" sz="1400" dirty="0"/>
          </a:p>
        </p:txBody>
      </p:sp>
      <p:sp>
        <p:nvSpPr>
          <p:cNvPr id="10" name="Text 7"/>
          <p:cNvSpPr/>
          <p:nvPr/>
        </p:nvSpPr>
        <p:spPr>
          <a:xfrm>
            <a:off x="9318625" y="2030214"/>
            <a:ext cx="2122392"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pp(i, j) = a[j] AND b[i], worth 2^(i+j). 64 bits, grouped into 15 columns.</a:t>
            </a:r>
            <a:endParaRPr lang="en-US" sz="1200" dirty="0"/>
          </a:p>
        </p:txBody>
      </p:sp>
      <p:sp>
        <p:nvSpPr>
          <p:cNvPr id="11" name="Text 8"/>
          <p:cNvSpPr/>
          <p:nvPr/>
        </p:nvSpPr>
        <p:spPr>
          <a:xfrm>
            <a:off x="9318625" y="2847975"/>
            <a:ext cx="212239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02B"/>
                </a:solidFill>
                <a:latin typeface="IBM Plex Sans" pitchFamily="34" charset="0"/>
                <a:ea typeface="IBM Plex Sans" pitchFamily="34" charset="-122"/>
                <a:cs typeface="IBM Plex Sans" pitchFamily="34" charset="-120"/>
              </a:rPr>
              <a:t>2 · Truncate</a:t>
            </a:r>
            <a:endParaRPr lang="en-US" sz="1400" dirty="0"/>
          </a:p>
        </p:txBody>
      </p:sp>
      <p:sp>
        <p:nvSpPr>
          <p:cNvPr id="12" name="Text 9"/>
          <p:cNvSpPr/>
          <p:nvPr/>
        </p:nvSpPr>
        <p:spPr>
          <a:xfrm>
            <a:off x="9318625" y="3099395"/>
            <a:ext cx="2122392"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If i + j &lt; N, the bit is a constant 0. The result can only get smaller, never larger.</a:t>
            </a:r>
            <a:endParaRPr lang="en-US" sz="1200" dirty="0"/>
          </a:p>
        </p:txBody>
      </p:sp>
      <p:sp>
        <p:nvSpPr>
          <p:cNvPr id="13" name="Text 10"/>
          <p:cNvSpPr/>
          <p:nvPr/>
        </p:nvSpPr>
        <p:spPr>
          <a:xfrm>
            <a:off x="9318625" y="3917156"/>
            <a:ext cx="212239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02B"/>
                </a:solidFill>
                <a:latin typeface="IBM Plex Sans" pitchFamily="34" charset="0"/>
                <a:ea typeface="IBM Plex Sans" pitchFamily="34" charset="-122"/>
                <a:cs typeface="IBM Plex Sans" pitchFamily="34" charset="-120"/>
              </a:rPr>
              <a:t>3 · Dadda tree</a:t>
            </a:r>
            <a:endParaRPr lang="en-US" sz="1400" dirty="0"/>
          </a:p>
        </p:txBody>
      </p:sp>
      <p:sp>
        <p:nvSpPr>
          <p:cNvPr id="14" name="Text 11"/>
          <p:cNvSpPr/>
          <p:nvPr/>
        </p:nvSpPr>
        <p:spPr>
          <a:xfrm>
            <a:off x="9318625" y="4168577"/>
            <a:ext cx="2122392"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35 full + 7 half adders squeeze the columns to heights 6, 4, 3, 2; a final + adds the last two rows.</a:t>
            </a:r>
            <a:endParaRPr lang="en-US" sz="1200" dirty="0"/>
          </a:p>
        </p:txBody>
      </p:sp>
      <p:sp>
        <p:nvSpPr>
          <p:cNvPr id="15" name="Text 12"/>
          <p:cNvSpPr/>
          <p:nvPr/>
        </p:nvSpPr>
        <p:spPr>
          <a:xfrm>
            <a:off x="9318625" y="5199658"/>
            <a:ext cx="212239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02B"/>
                </a:solidFill>
                <a:latin typeface="IBM Plex Sans" pitchFamily="34" charset="0"/>
                <a:ea typeface="IBM Plex Sans" pitchFamily="34" charset="-122"/>
                <a:cs typeface="IBM Plex Sans" pitchFamily="34" charset="-120"/>
              </a:rPr>
              <a:t>4 · Synthesis cleans up</a:t>
            </a:r>
            <a:endParaRPr lang="en-US" sz="1400" dirty="0"/>
          </a:p>
        </p:txBody>
      </p:sp>
      <p:sp>
        <p:nvSpPr>
          <p:cNvPr id="16" name="Text 13"/>
          <p:cNvSpPr/>
          <p:nvPr/>
        </p:nvSpPr>
        <p:spPr>
          <a:xfrm>
            <a:off x="9318625" y="5451078"/>
            <a:ext cx="2122392"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Adders fed only by zeros are removed by constant propagation. The tree is not re-planned for each N.</a:t>
            </a:r>
            <a:endParaRPr lang="en-US" sz="1200" dirty="0"/>
          </a:p>
        </p:txBody>
      </p:sp>
      <p:sp>
        <p:nvSpPr>
          <p:cNvPr id="17" name="Text 14"/>
          <p:cNvSpPr/>
          <p:nvPr/>
        </p:nvSpPr>
        <p:spPr>
          <a:xfrm>
            <a:off x="812800" y="6235700"/>
            <a:ext cx="1687711" cy="2413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3"/>
                </a:solidFill>
                <a:latin typeface="IBM Plex Sans" pitchFamily="34" charset="0"/>
                <a:ea typeface="IBM Plex Sans" pitchFamily="34" charset="-122"/>
                <a:cs typeface="IBM Plex Sans" pitchFamily="34" charset="-120"/>
              </a:rPr>
              <a:t>AxMAC · Milestone 1</a:t>
            </a:r>
            <a:endParaRPr lang="en-US" sz="1200" dirty="0"/>
          </a:p>
        </p:txBody>
      </p:sp>
      <p:sp>
        <p:nvSpPr>
          <p:cNvPr id="18" name="Text 15"/>
          <p:cNvSpPr/>
          <p:nvPr/>
        </p:nvSpPr>
        <p:spPr>
          <a:xfrm>
            <a:off x="11236920" y="6235700"/>
            <a:ext cx="142280" cy="24130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3"/>
                </a:solidFill>
                <a:latin typeface="IBM Plex Sans" pitchFamily="34" charset="0"/>
                <a:ea typeface="IBM Plex Sans" pitchFamily="34" charset="-122"/>
                <a:cs typeface="IBM Plex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CE8D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4501B"/>
                </a:solidFill>
                <a:latin typeface="IBM Plex Sans" pitchFamily="34" charset="0"/>
                <a:ea typeface="IBM Plex Sans" pitchFamily="34" charset="-122"/>
                <a:cs typeface="IBM Plex Sans" pitchFamily="34" charset="-120"/>
              </a:rPr>
              <a:t>HOW ARE WE DOING IT · THE FLOW</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B"/>
                </a:solidFill>
                <a:latin typeface="IBM Plex Sans" pitchFamily="34" charset="0"/>
                <a:ea typeface="IBM Plex Sans" pitchFamily="34" charset="-122"/>
                <a:cs typeface="IBM Plex Sans" pitchFamily="34" charset="-120"/>
              </a:rPr>
              <a:t>One open-source flow, one make command per step</a:t>
            </a:r>
            <a:endParaRPr lang="en-US" sz="3200" dirty="0"/>
          </a:p>
        </p:txBody>
      </p:sp>
      <p:sp>
        <p:nvSpPr>
          <p:cNvPr id="4" name="Shape 2"/>
          <p:cNvSpPr/>
          <p:nvPr/>
        </p:nvSpPr>
        <p:spPr>
          <a:xfrm>
            <a:off x="815975" y="1806476"/>
            <a:ext cx="1802110" cy="1456432"/>
          </a:xfrm>
          <a:prstGeom prst="roundRect">
            <a:avLst>
              <a:gd name="adj" fmla="val 5886"/>
            </a:avLst>
          </a:prstGeom>
          <a:solidFill>
            <a:srgbClr val="FBFAF6"/>
          </a:solidFill>
          <a:ln w="6350">
            <a:solidFill>
              <a:srgbClr val="D6D0C1"/>
            </a:solidFill>
            <a:prstDash val="solid"/>
          </a:ln>
        </p:spPr>
      </p:sp>
      <p:sp>
        <p:nvSpPr>
          <p:cNvPr id="5" name="Text 3"/>
          <p:cNvSpPr/>
          <p:nvPr/>
        </p:nvSpPr>
        <p:spPr>
          <a:xfrm>
            <a:off x="971550" y="1962051"/>
            <a:ext cx="154176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02B"/>
                </a:solidFill>
                <a:latin typeface="IBM Plex Sans" pitchFamily="34" charset="0"/>
                <a:ea typeface="IBM Plex Sans" pitchFamily="34" charset="-122"/>
                <a:cs typeface="IBM Plex Sans" pitchFamily="34" charset="-120"/>
              </a:rPr>
              <a:t>1 Generate</a:t>
            </a:r>
            <a:endParaRPr lang="en-US" sz="1400" dirty="0"/>
          </a:p>
        </p:txBody>
      </p:sp>
      <p:sp>
        <p:nvSpPr>
          <p:cNvPr id="6" name="Text 4"/>
          <p:cNvSpPr/>
          <p:nvPr/>
        </p:nvSpPr>
        <p:spPr>
          <a:xfrm>
            <a:off x="971550" y="2226171"/>
            <a:ext cx="15417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563A8"/>
                </a:solidFill>
                <a:latin typeface="JetBrains Mono" pitchFamily="49" charset="0"/>
                <a:ea typeface="JetBrains Mono" pitchFamily="49" charset="-122"/>
                <a:cs typeface="JetBrains Mono" pitchFamily="49" charset="-120"/>
              </a:rPr>
              <a:t>gen_dadda.py</a:t>
            </a:r>
            <a:endParaRPr lang="en-US" sz="1200" dirty="0"/>
          </a:p>
        </p:txBody>
      </p:sp>
      <p:sp>
        <p:nvSpPr>
          <p:cNvPr id="7" name="Text 5"/>
          <p:cNvSpPr/>
          <p:nvPr/>
        </p:nvSpPr>
        <p:spPr>
          <a:xfrm>
            <a:off x="971550" y="2490291"/>
            <a:ext cx="154176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4752"/>
                </a:solidFill>
                <a:latin typeface="IBM Plex Sans" pitchFamily="34" charset="0"/>
                <a:ea typeface="IBM Plex Sans" pitchFamily="34" charset="-122"/>
                <a:cs typeface="IBM Plex Sans" pitchFamily="34" charset="-120"/>
              </a:rPr>
              <a:t>Plans the Dadda tree, writes its RTL</a:t>
            </a:r>
            <a:endParaRPr lang="en-US" sz="1200" dirty="0"/>
          </a:p>
        </p:txBody>
      </p:sp>
      <p:pic>
        <p:nvPicPr>
          <p:cNvPr id="8" name="Image 0" descr="arrow-right">    </p:cNvPr>
          <p:cNvPicPr>
            <a:picLocks noChangeAspect="1"/>
          </p:cNvPicPr>
          <p:nvPr/>
        </p:nvPicPr>
        <p:blipFill>
          <a:blip r:embed="rId1"/>
          <a:srcRect l="0" r="0" t="0" b="0"/>
          <a:stretch/>
        </p:blipFill>
        <p:spPr>
          <a:xfrm>
            <a:off x="2697460" y="2471142"/>
            <a:ext cx="228600" cy="127000"/>
          </a:xfrm>
          <a:prstGeom prst="rect">
            <a:avLst/>
          </a:prstGeom>
        </p:spPr>
      </p:pic>
      <p:sp>
        <p:nvSpPr>
          <p:cNvPr id="9" name="Shape 6"/>
          <p:cNvSpPr/>
          <p:nvPr/>
        </p:nvSpPr>
        <p:spPr>
          <a:xfrm>
            <a:off x="3005435" y="1806476"/>
            <a:ext cx="1802209" cy="1456432"/>
          </a:xfrm>
          <a:prstGeom prst="roundRect">
            <a:avLst>
              <a:gd name="adj" fmla="val 5886"/>
            </a:avLst>
          </a:prstGeom>
          <a:solidFill>
            <a:srgbClr val="FBFAF6"/>
          </a:solidFill>
          <a:ln w="6350">
            <a:solidFill>
              <a:srgbClr val="D6D0C1"/>
            </a:solidFill>
            <a:prstDash val="solid"/>
          </a:ln>
        </p:spPr>
      </p:sp>
      <p:sp>
        <p:nvSpPr>
          <p:cNvPr id="10" name="Text 7"/>
          <p:cNvSpPr/>
          <p:nvPr/>
        </p:nvSpPr>
        <p:spPr>
          <a:xfrm>
            <a:off x="3161010" y="1962051"/>
            <a:ext cx="154185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02B"/>
                </a:solidFill>
                <a:latin typeface="IBM Plex Sans" pitchFamily="34" charset="0"/>
                <a:ea typeface="IBM Plex Sans" pitchFamily="34" charset="-122"/>
                <a:cs typeface="IBM Plex Sans" pitchFamily="34" charset="-120"/>
              </a:rPr>
              <a:t>2 Verify</a:t>
            </a:r>
            <a:endParaRPr lang="en-US" sz="1400" dirty="0"/>
          </a:p>
        </p:txBody>
      </p:sp>
      <p:sp>
        <p:nvSpPr>
          <p:cNvPr id="11" name="Text 8"/>
          <p:cNvSpPr/>
          <p:nvPr/>
        </p:nvSpPr>
        <p:spPr>
          <a:xfrm>
            <a:off x="3161010" y="2226171"/>
            <a:ext cx="15418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563A8"/>
                </a:solidFill>
                <a:latin typeface="JetBrains Mono" pitchFamily="49" charset="0"/>
                <a:ea typeface="JetBrains Mono" pitchFamily="49" charset="-122"/>
                <a:cs typeface="JetBrains Mono" pitchFamily="49" charset="-120"/>
              </a:rPr>
              <a:t>Icarus 12</a:t>
            </a:r>
            <a:endParaRPr lang="en-US" sz="1200" dirty="0"/>
          </a:p>
        </p:txBody>
      </p:sp>
      <p:sp>
        <p:nvSpPr>
          <p:cNvPr id="12" name="Text 9"/>
          <p:cNvSpPr/>
          <p:nvPr/>
        </p:nvSpPr>
        <p:spPr>
          <a:xfrm>
            <a:off x="3161010" y="2490291"/>
            <a:ext cx="1541859"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4752"/>
                </a:solidFill>
                <a:latin typeface="IBM Plex Sans" pitchFamily="34" charset="0"/>
                <a:ea typeface="IBM Plex Sans" pitchFamily="34" charset="-122"/>
                <a:cs typeface="IBM Plex Sans" pitchFamily="34" charset="-120"/>
              </a:rPr>
              <a:t>65,536 pairs × 13 N vs the Python model</a:t>
            </a:r>
            <a:endParaRPr lang="en-US" sz="1200" dirty="0"/>
          </a:p>
        </p:txBody>
      </p:sp>
      <p:pic>
        <p:nvPicPr>
          <p:cNvPr id="13" name="Image 1" descr="arrow-right">    </p:cNvPr>
          <p:cNvPicPr>
            <a:picLocks noChangeAspect="1"/>
          </p:cNvPicPr>
          <p:nvPr/>
        </p:nvPicPr>
        <p:blipFill>
          <a:blip r:embed="rId2"/>
          <a:srcRect l="0" r="0" t="0" b="0"/>
          <a:stretch/>
        </p:blipFill>
        <p:spPr>
          <a:xfrm>
            <a:off x="4887020" y="2471142"/>
            <a:ext cx="228600" cy="127000"/>
          </a:xfrm>
          <a:prstGeom prst="rect">
            <a:avLst/>
          </a:prstGeom>
        </p:spPr>
      </p:pic>
      <p:sp>
        <p:nvSpPr>
          <p:cNvPr id="14" name="Shape 10"/>
          <p:cNvSpPr/>
          <p:nvPr/>
        </p:nvSpPr>
        <p:spPr>
          <a:xfrm>
            <a:off x="5194995" y="1806476"/>
            <a:ext cx="1802110" cy="1456432"/>
          </a:xfrm>
          <a:prstGeom prst="roundRect">
            <a:avLst>
              <a:gd name="adj" fmla="val 5886"/>
            </a:avLst>
          </a:prstGeom>
          <a:solidFill>
            <a:srgbClr val="FBFAF6"/>
          </a:solidFill>
          <a:ln w="6350">
            <a:solidFill>
              <a:srgbClr val="D6D0C1"/>
            </a:solidFill>
            <a:prstDash val="solid"/>
          </a:ln>
        </p:spPr>
      </p:sp>
      <p:sp>
        <p:nvSpPr>
          <p:cNvPr id="15" name="Text 11"/>
          <p:cNvSpPr/>
          <p:nvPr/>
        </p:nvSpPr>
        <p:spPr>
          <a:xfrm>
            <a:off x="5350570" y="1962051"/>
            <a:ext cx="154176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02B"/>
                </a:solidFill>
                <a:latin typeface="IBM Plex Sans" pitchFamily="34" charset="0"/>
                <a:ea typeface="IBM Plex Sans" pitchFamily="34" charset="-122"/>
                <a:cs typeface="IBM Plex Sans" pitchFamily="34" charset="-120"/>
              </a:rPr>
              <a:t>3 Synthesize</a:t>
            </a:r>
            <a:endParaRPr lang="en-US" sz="1400" dirty="0"/>
          </a:p>
        </p:txBody>
      </p:sp>
      <p:sp>
        <p:nvSpPr>
          <p:cNvPr id="16" name="Text 12"/>
          <p:cNvSpPr/>
          <p:nvPr/>
        </p:nvSpPr>
        <p:spPr>
          <a:xfrm>
            <a:off x="5350570" y="2226171"/>
            <a:ext cx="15417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563A8"/>
                </a:solidFill>
                <a:latin typeface="JetBrains Mono" pitchFamily="49" charset="0"/>
                <a:ea typeface="JetBrains Mono" pitchFamily="49" charset="-122"/>
                <a:cs typeface="JetBrains Mono" pitchFamily="49" charset="-120"/>
              </a:rPr>
              <a:t>Yosys 0.33</a:t>
            </a:r>
            <a:endParaRPr lang="en-US" sz="1200" dirty="0"/>
          </a:p>
        </p:txBody>
      </p:sp>
      <p:sp>
        <p:nvSpPr>
          <p:cNvPr id="17" name="Text 13"/>
          <p:cNvSpPr/>
          <p:nvPr/>
        </p:nvSpPr>
        <p:spPr>
          <a:xfrm>
            <a:off x="5350570" y="2490291"/>
            <a:ext cx="154176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4752"/>
                </a:solidFill>
                <a:latin typeface="IBM Plex Sans" pitchFamily="34" charset="0"/>
                <a:ea typeface="IBM Plex Sans" pitchFamily="34" charset="-122"/>
                <a:cs typeface="IBM Plex Sans" pitchFamily="34" charset="-120"/>
              </a:rPr>
              <a:t>sky130 standard cells → area</a:t>
            </a:r>
            <a:endParaRPr lang="en-US" sz="1200" dirty="0"/>
          </a:p>
        </p:txBody>
      </p:sp>
      <p:pic>
        <p:nvPicPr>
          <p:cNvPr id="18" name="Image 2" descr="arrow-right">    </p:cNvPr>
          <p:cNvPicPr>
            <a:picLocks noChangeAspect="1"/>
          </p:cNvPicPr>
          <p:nvPr/>
        </p:nvPicPr>
        <p:blipFill>
          <a:blip r:embed="rId3"/>
          <a:srcRect l="0" r="0" t="0" b="0"/>
          <a:stretch/>
        </p:blipFill>
        <p:spPr>
          <a:xfrm>
            <a:off x="7076480" y="2471142"/>
            <a:ext cx="228600" cy="127000"/>
          </a:xfrm>
          <a:prstGeom prst="rect">
            <a:avLst/>
          </a:prstGeom>
        </p:spPr>
      </p:pic>
      <p:sp>
        <p:nvSpPr>
          <p:cNvPr id="19" name="Shape 14"/>
          <p:cNvSpPr/>
          <p:nvPr/>
        </p:nvSpPr>
        <p:spPr>
          <a:xfrm>
            <a:off x="7384455" y="1806476"/>
            <a:ext cx="1802110" cy="1456432"/>
          </a:xfrm>
          <a:prstGeom prst="roundRect">
            <a:avLst>
              <a:gd name="adj" fmla="val 5886"/>
            </a:avLst>
          </a:prstGeom>
          <a:solidFill>
            <a:srgbClr val="FBFAF6"/>
          </a:solidFill>
          <a:ln w="6350">
            <a:solidFill>
              <a:srgbClr val="D6D0C1"/>
            </a:solidFill>
            <a:prstDash val="solid"/>
          </a:ln>
        </p:spPr>
      </p:sp>
      <p:sp>
        <p:nvSpPr>
          <p:cNvPr id="20" name="Text 15"/>
          <p:cNvSpPr/>
          <p:nvPr/>
        </p:nvSpPr>
        <p:spPr>
          <a:xfrm>
            <a:off x="7540030" y="1962051"/>
            <a:ext cx="154176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02B"/>
                </a:solidFill>
                <a:latin typeface="IBM Plex Sans" pitchFamily="34" charset="0"/>
                <a:ea typeface="IBM Plex Sans" pitchFamily="34" charset="-122"/>
                <a:cs typeface="IBM Plex Sans" pitchFamily="34" charset="-120"/>
              </a:rPr>
              <a:t>4 Time</a:t>
            </a:r>
            <a:endParaRPr lang="en-US" sz="1400" dirty="0"/>
          </a:p>
        </p:txBody>
      </p:sp>
      <p:sp>
        <p:nvSpPr>
          <p:cNvPr id="21" name="Text 16"/>
          <p:cNvSpPr/>
          <p:nvPr/>
        </p:nvSpPr>
        <p:spPr>
          <a:xfrm>
            <a:off x="7540030" y="2226171"/>
            <a:ext cx="15417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563A8"/>
                </a:solidFill>
                <a:latin typeface="JetBrains Mono" pitchFamily="49" charset="0"/>
                <a:ea typeface="JetBrains Mono" pitchFamily="49" charset="-122"/>
                <a:cs typeface="JetBrains Mono" pitchFamily="49" charset="-120"/>
              </a:rPr>
              <a:t>OpenSTA 3.1.0</a:t>
            </a:r>
            <a:endParaRPr lang="en-US" sz="1200" dirty="0"/>
          </a:p>
        </p:txBody>
      </p:sp>
      <p:sp>
        <p:nvSpPr>
          <p:cNvPr id="22" name="Text 17"/>
          <p:cNvSpPr/>
          <p:nvPr/>
        </p:nvSpPr>
        <p:spPr>
          <a:xfrm>
            <a:off x="7540030" y="2490291"/>
            <a:ext cx="1541760" cy="6424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4752"/>
                </a:solidFill>
                <a:latin typeface="IBM Plex Sans" pitchFamily="34" charset="0"/>
                <a:ea typeface="IBM Plex Sans" pitchFamily="34" charset="-122"/>
                <a:cs typeface="IBM Plex Sans" pitchFamily="34" charset="-120"/>
              </a:rPr>
              <a:t>Critical path → minimum clock period</a:t>
            </a:r>
            <a:endParaRPr lang="en-US" sz="1200" dirty="0"/>
          </a:p>
        </p:txBody>
      </p:sp>
      <p:pic>
        <p:nvPicPr>
          <p:cNvPr id="23" name="Image 3" descr="arrow-right">    </p:cNvPr>
          <p:cNvPicPr>
            <a:picLocks noChangeAspect="1"/>
          </p:cNvPicPr>
          <p:nvPr/>
        </p:nvPicPr>
        <p:blipFill>
          <a:blip r:embed="rId4"/>
          <a:srcRect l="0" r="0" t="0" b="0"/>
          <a:stretch/>
        </p:blipFill>
        <p:spPr>
          <a:xfrm>
            <a:off x="9265940" y="2471142"/>
            <a:ext cx="228600" cy="127000"/>
          </a:xfrm>
          <a:prstGeom prst="rect">
            <a:avLst/>
          </a:prstGeom>
        </p:spPr>
      </p:pic>
      <p:sp>
        <p:nvSpPr>
          <p:cNvPr id="24" name="Shape 18"/>
          <p:cNvSpPr/>
          <p:nvPr/>
        </p:nvSpPr>
        <p:spPr>
          <a:xfrm>
            <a:off x="9573915" y="1806476"/>
            <a:ext cx="1802110" cy="1456432"/>
          </a:xfrm>
          <a:prstGeom prst="roundRect">
            <a:avLst>
              <a:gd name="adj" fmla="val 5886"/>
            </a:avLst>
          </a:prstGeom>
          <a:solidFill>
            <a:srgbClr val="FBFAF6"/>
          </a:solidFill>
          <a:ln w="6350">
            <a:solidFill>
              <a:srgbClr val="D6D0C1"/>
            </a:solidFill>
            <a:prstDash val="solid"/>
          </a:ln>
        </p:spPr>
      </p:sp>
      <p:sp>
        <p:nvSpPr>
          <p:cNvPr id="25" name="Text 19"/>
          <p:cNvSpPr/>
          <p:nvPr/>
        </p:nvSpPr>
        <p:spPr>
          <a:xfrm>
            <a:off x="9729490" y="1962051"/>
            <a:ext cx="154176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02B"/>
                </a:solidFill>
                <a:latin typeface="IBM Plex Sans" pitchFamily="34" charset="0"/>
                <a:ea typeface="IBM Plex Sans" pitchFamily="34" charset="-122"/>
                <a:cs typeface="IBM Plex Sans" pitchFamily="34" charset="-120"/>
              </a:rPr>
              <a:t>5 Power</a:t>
            </a:r>
            <a:endParaRPr lang="en-US" sz="1400" dirty="0"/>
          </a:p>
        </p:txBody>
      </p:sp>
      <p:sp>
        <p:nvSpPr>
          <p:cNvPr id="26" name="Text 20"/>
          <p:cNvSpPr/>
          <p:nvPr/>
        </p:nvSpPr>
        <p:spPr>
          <a:xfrm>
            <a:off x="9729490" y="2226171"/>
            <a:ext cx="15417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563A8"/>
                </a:solidFill>
                <a:latin typeface="JetBrains Mono" pitchFamily="49" charset="0"/>
                <a:ea typeface="JetBrains Mono" pitchFamily="49" charset="-122"/>
                <a:cs typeface="JetBrains Mono" pitchFamily="49" charset="-120"/>
              </a:rPr>
              <a:t>sim + OpenSTA</a:t>
            </a:r>
            <a:endParaRPr lang="en-US" sz="1200" dirty="0"/>
          </a:p>
        </p:txBody>
      </p:sp>
      <p:sp>
        <p:nvSpPr>
          <p:cNvPr id="27" name="Text 21"/>
          <p:cNvSpPr/>
          <p:nvPr/>
        </p:nvSpPr>
        <p:spPr>
          <a:xfrm>
            <a:off x="9729490" y="2490291"/>
            <a:ext cx="154176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4752"/>
                </a:solidFill>
                <a:latin typeface="IBM Plex Sans" pitchFamily="34" charset="0"/>
                <a:ea typeface="IBM Plex Sans" pitchFamily="34" charset="-122"/>
                <a:cs typeface="IBM Plex Sans" pitchFamily="34" charset="-120"/>
              </a:rPr>
              <a:t>Gate-level activity → report_power</a:t>
            </a:r>
            <a:endParaRPr lang="en-US" sz="1200" dirty="0"/>
          </a:p>
        </p:txBody>
      </p:sp>
      <p:pic>
        <p:nvPicPr>
          <p:cNvPr id="28" name="Image 4" descr="Terminal screenshot of the OpenSTA timing report for the exact multiplier (N=0): data arrival time 4.064 ns, data required time 9.872 ns, slack 5.808 ns (MET)">    </p:cNvPr>
          <p:cNvPicPr>
            <a:picLocks noChangeAspect="1"/>
          </p:cNvPicPr>
          <p:nvPr/>
        </p:nvPicPr>
        <p:blipFill>
          <a:blip r:embed="rId5"/>
          <a:srcRect l="0" r="0" t="-32" b="-32"/>
          <a:stretch/>
        </p:blipFill>
        <p:spPr>
          <a:xfrm>
            <a:off x="812800" y="3520083"/>
            <a:ext cx="4572000" cy="2190750"/>
          </a:xfrm>
          <a:prstGeom prst="roundRect">
            <a:avLst>
              <a:gd name="adj" fmla="val 3478"/>
            </a:avLst>
          </a:prstGeom>
        </p:spPr>
      </p:pic>
      <p:sp>
        <p:nvSpPr>
          <p:cNvPr id="29" name="Text 22"/>
          <p:cNvSpPr/>
          <p:nvPr/>
        </p:nvSpPr>
        <p:spPr>
          <a:xfrm>
            <a:off x="5740400" y="3520083"/>
            <a:ext cx="580796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02B"/>
                </a:solidFill>
                <a:latin typeface="IBM Plex Sans" pitchFamily="34" charset="0"/>
                <a:ea typeface="IBM Plex Sans" pitchFamily="34" charset="-122"/>
                <a:cs typeface="IBM Plex Sans" pitchFamily="34" charset="-120"/>
              </a:rPr>
              <a:t>Reading the timing screenshot</a:t>
            </a:r>
            <a:endParaRPr lang="en-US" sz="1400" dirty="0"/>
          </a:p>
        </p:txBody>
      </p:sp>
      <p:sp>
        <p:nvSpPr>
          <p:cNvPr id="30" name="Text 23"/>
          <p:cNvSpPr/>
          <p:nvPr/>
        </p:nvSpPr>
        <p:spPr>
          <a:xfrm>
            <a:off x="5740400" y="3860403"/>
            <a:ext cx="580796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4.064 ns logic delay + 0.128 ns flip-flop setup = </a:t>
            </a:r>
            <a:r>
              <a:rPr lang="en-US" sz="1200" b="1" dirty="0">
                <a:solidFill>
                  <a:srgbClr val="3D4752"/>
                </a:solidFill>
                <a:latin typeface="IBM Plex Sans" pitchFamily="34" charset="0"/>
                <a:ea typeface="IBM Plex Sans" pitchFamily="34" charset="-122"/>
                <a:cs typeface="IBM Plex Sans" pitchFamily="34" charset="-120"/>
              </a:rPr>
              <a:t>4.19 ns</a:t>
            </a:r>
            <a:r>
              <a:rPr lang="en-US" sz="1200" dirty="0">
                <a:solidFill>
                  <a:srgbClr val="3D4752"/>
                </a:solidFill>
                <a:latin typeface="IBM Plex Sans" pitchFamily="34" charset="0"/>
                <a:ea typeface="IBM Plex Sans" pitchFamily="34" charset="-122"/>
                <a:cs typeface="IBM Plex Sans" pitchFamily="34" charset="-120"/>
              </a:rPr>
              <a:t> minimum clock period for the exact multiplier (N = 0).</a:t>
            </a:r>
            <a:endParaRPr lang="en-US" sz="1200" dirty="0"/>
          </a:p>
        </p:txBody>
      </p:sp>
      <p:sp>
        <p:nvSpPr>
          <p:cNvPr id="31" name="Text 24"/>
          <p:cNvSpPr/>
          <p:nvPr/>
        </p:nvSpPr>
        <p:spPr>
          <a:xfrm>
            <a:off x="5740400" y="4414044"/>
            <a:ext cx="580796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Corner: sky130_fd_sc_hd, typical, 25 °C, 1.80 V. Pre-layout: no wire load, ideal clock.</a:t>
            </a:r>
            <a:endParaRPr lang="en-US" sz="1200" dirty="0"/>
          </a:p>
        </p:txBody>
      </p:sp>
      <p:sp>
        <p:nvSpPr>
          <p:cNvPr id="32" name="Text 25"/>
          <p:cNvSpPr/>
          <p:nvPr/>
        </p:nvSpPr>
        <p:spPr>
          <a:xfrm>
            <a:off x="5740400" y="4967684"/>
            <a:ext cx="58079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Every number is written to results/ by a script; nothing is typed by hand.</a:t>
            </a:r>
            <a:endParaRPr lang="en-US" sz="1200" dirty="0"/>
          </a:p>
        </p:txBody>
      </p:sp>
      <p:sp>
        <p:nvSpPr>
          <p:cNvPr id="33" name="Text 26"/>
          <p:cNvSpPr/>
          <p:nvPr/>
        </p:nvSpPr>
        <p:spPr>
          <a:xfrm>
            <a:off x="812800" y="6235700"/>
            <a:ext cx="1687711" cy="2413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3"/>
                </a:solidFill>
                <a:latin typeface="IBM Plex Sans" pitchFamily="34" charset="0"/>
                <a:ea typeface="IBM Plex Sans" pitchFamily="34" charset="-122"/>
                <a:cs typeface="IBM Plex Sans" pitchFamily="34" charset="-120"/>
              </a:rPr>
              <a:t>AxMAC · Milestone 1</a:t>
            </a:r>
            <a:endParaRPr lang="en-US" sz="1200" dirty="0"/>
          </a:p>
        </p:txBody>
      </p:sp>
      <p:sp>
        <p:nvSpPr>
          <p:cNvPr id="34" name="Text 27"/>
          <p:cNvSpPr/>
          <p:nvPr/>
        </p:nvSpPr>
        <p:spPr>
          <a:xfrm>
            <a:off x="11236920" y="6235700"/>
            <a:ext cx="142280" cy="24130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3"/>
                </a:solidFill>
                <a:latin typeface="IBM Plex Sans" pitchFamily="34" charset="0"/>
                <a:ea typeface="IBM Plex Sans" pitchFamily="34" charset="-122"/>
                <a:cs typeface="IBM Plex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4501B"/>
                </a:solidFill>
                <a:latin typeface="IBM Plex Sans" pitchFamily="34" charset="0"/>
                <a:ea typeface="IBM Plex Sans" pitchFamily="34" charset="-122"/>
                <a:cs typeface="IBM Plex Sans" pitchFamily="34" charset="-120"/>
              </a:rPr>
              <a:t>VERIFIED TRUST · RE-RUN ON 5 OCT 2026</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B"/>
                </a:solidFill>
                <a:latin typeface="IBM Plex Sans" pitchFamily="34" charset="0"/>
                <a:ea typeface="IBM Plex Sans" pitchFamily="34" charset="-122"/>
                <a:cs typeface="IBM Plex Sans" pitchFamily="34" charset="-120"/>
              </a:rPr>
              <a:t>Verification: RTL = model on every input</a:t>
            </a:r>
            <a:endParaRPr lang="en-US" sz="3200" dirty="0"/>
          </a:p>
        </p:txBody>
      </p:sp>
      <p:pic>
        <p:nvPicPr>
          <p:cNvPr id="4" name="Image 0" descr="Terminal screenshot of make test: 42 pytest tests passed, then N=0 to N=12 each PASS 65536/65536 match, exit 0">    </p:cNvPr>
          <p:cNvPicPr>
            <a:picLocks noChangeAspect="1"/>
          </p:cNvPicPr>
          <p:nvPr/>
        </p:nvPicPr>
        <p:blipFill>
          <a:blip r:embed="rId1"/>
          <a:srcRect l="-5" r="-5" t="0" b="0"/>
          <a:stretch/>
        </p:blipFill>
        <p:spPr>
          <a:xfrm>
            <a:off x="812800" y="1803301"/>
            <a:ext cx="3594100" cy="2984500"/>
          </a:xfrm>
          <a:prstGeom prst="roundRect">
            <a:avLst>
              <a:gd name="adj" fmla="val 2553"/>
            </a:avLst>
          </a:prstGeom>
        </p:spPr>
      </p:pic>
      <p:sp>
        <p:nvSpPr>
          <p:cNvPr id="5" name="Text 2"/>
          <p:cNvSpPr/>
          <p:nvPr/>
        </p:nvSpPr>
        <p:spPr>
          <a:xfrm>
            <a:off x="812800" y="4864001"/>
            <a:ext cx="3701923" cy="436761"/>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3D4752"/>
                </a:solidFill>
                <a:latin typeface="IBM Plex Sans" pitchFamily="34" charset="0"/>
                <a:ea typeface="IBM Plex Sans" pitchFamily="34" charset="-122"/>
                <a:cs typeface="IBM Plex Sans" pitchFamily="34" charset="-120"/>
              </a:rPr>
              <a:t>make test:</a:t>
            </a:r>
            <a:r>
              <a:rPr lang="en-US" sz="1200" dirty="0">
                <a:solidFill>
                  <a:srgbClr val="3D4752"/>
                </a:solidFill>
                <a:latin typeface="IBM Plex Sans" pitchFamily="34" charset="0"/>
                <a:ea typeface="IBM Plex Sans" pitchFamily="34" charset="-122"/>
                <a:cs typeface="IBM Plex Sans" pitchFamily="34" charset="-120"/>
              </a:rPr>
              <a:t> all 13 values of N match on all 65,536 inputs, plus 42 model unit tests.</a:t>
            </a:r>
            <a:endParaRPr lang="en-US" sz="1200" dirty="0"/>
          </a:p>
        </p:txBody>
      </p:sp>
      <p:pic>
        <p:nvPicPr>
          <p:cNvPr id="6" name="Image 1" descr="Terminal screenshot: the N=4 RTL output checked against the N=3 model gives FAIL, 44800 mismatches out of 65536, exit 1">    </p:cNvPr>
          <p:cNvPicPr>
            <a:picLocks noChangeAspect="1"/>
          </p:cNvPicPr>
          <p:nvPr/>
        </p:nvPicPr>
        <p:blipFill>
          <a:blip r:embed="rId2"/>
          <a:srcRect l="0" r="0" t="-81" b="-81"/>
          <a:stretch/>
        </p:blipFill>
        <p:spPr>
          <a:xfrm>
            <a:off x="4711700" y="1803301"/>
            <a:ext cx="6096000" cy="1727200"/>
          </a:xfrm>
          <a:prstGeom prst="roundRect">
            <a:avLst>
              <a:gd name="adj" fmla="val 4412"/>
            </a:avLst>
          </a:prstGeom>
        </p:spPr>
      </p:pic>
      <p:sp>
        <p:nvSpPr>
          <p:cNvPr id="7" name="Text 3"/>
          <p:cNvSpPr/>
          <p:nvPr/>
        </p:nvSpPr>
        <p:spPr>
          <a:xfrm>
            <a:off x="4711700" y="3606701"/>
            <a:ext cx="6867525" cy="436761"/>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3D4752"/>
                </a:solidFill>
                <a:latin typeface="IBM Plex Sans" pitchFamily="34" charset="0"/>
                <a:ea typeface="IBM Plex Sans" pitchFamily="34" charset="-122"/>
                <a:cs typeface="IBM Plex Sans" pitchFamily="34" charset="-120"/>
              </a:rPr>
              <a:t>Can the checker fail?</a:t>
            </a:r>
            <a:r>
              <a:rPr lang="en-US" sz="1200" dirty="0">
                <a:solidFill>
                  <a:srgbClr val="3D4752"/>
                </a:solidFill>
                <a:latin typeface="IBM Plex Sans" pitchFamily="34" charset="0"/>
                <a:ea typeface="IBM Plex Sans" pitchFamily="34" charset="-122"/>
                <a:cs typeface="IBM Plex Sans" pitchFamily="34" charset="-120"/>
              </a:rPr>
              <a:t> Given the wrong design (N = 4 output vs N = 3 model), it reports 44,800 mismatches.</a:t>
            </a:r>
            <a:endParaRPr lang="en-US" sz="1200" dirty="0"/>
          </a:p>
        </p:txBody>
      </p:sp>
      <p:pic>
        <p:nvPicPr>
          <p:cNvPr id="8" name="Image 2" descr="Terminal screenshot: gate-level check 5008/5008 outputs correct for both the Dadda multiplier and a*b netlists">    </p:cNvPr>
          <p:cNvPicPr>
            <a:picLocks noChangeAspect="1"/>
          </p:cNvPicPr>
          <p:nvPr/>
        </p:nvPicPr>
        <p:blipFill>
          <a:blip r:embed="rId3"/>
          <a:srcRect l="0" r="0" t="-81" b="-81"/>
          <a:stretch/>
        </p:blipFill>
        <p:spPr>
          <a:xfrm>
            <a:off x="4711700" y="4195862"/>
            <a:ext cx="2457450" cy="1143000"/>
          </a:xfrm>
          <a:prstGeom prst="roundRect">
            <a:avLst>
              <a:gd name="adj" fmla="val 6667"/>
            </a:avLst>
          </a:prstGeom>
        </p:spPr>
      </p:pic>
      <p:sp>
        <p:nvSpPr>
          <p:cNvPr id="9" name="Text 4"/>
          <p:cNvSpPr/>
          <p:nvPr/>
        </p:nvSpPr>
        <p:spPr>
          <a:xfrm>
            <a:off x="7372350" y="4561681"/>
            <a:ext cx="4127055" cy="436761"/>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3D4752"/>
                </a:solidFill>
                <a:latin typeface="IBM Plex Sans" pitchFamily="34" charset="0"/>
                <a:ea typeface="IBM Plex Sans" pitchFamily="34" charset="-122"/>
                <a:cs typeface="IBM Plex Sans" pitchFamily="34" charset="-120"/>
              </a:rPr>
              <a:t>After synthesis</a:t>
            </a:r>
            <a:r>
              <a:rPr lang="en-US" sz="1200" dirty="0">
                <a:solidFill>
                  <a:srgbClr val="3D4752"/>
                </a:solidFill>
                <a:latin typeface="IBM Plex Sans" pitchFamily="34" charset="0"/>
                <a:ea typeface="IBM Plex Sans" pitchFamily="34" charset="-122"/>
                <a:cs typeface="IBM Plex Sans" pitchFamily="34" charset="-120"/>
              </a:rPr>
              <a:t>, the sky130 gate netlist still computes a × b: 5,008 / 5,008 outputs correct.</a:t>
            </a:r>
            <a:endParaRPr lang="en-US" sz="1200" dirty="0"/>
          </a:p>
        </p:txBody>
      </p:sp>
      <p:sp>
        <p:nvSpPr>
          <p:cNvPr id="10" name="Text 5"/>
          <p:cNvSpPr/>
          <p:nvPr/>
        </p:nvSpPr>
        <p:spPr>
          <a:xfrm>
            <a:off x="812800" y="6235700"/>
            <a:ext cx="1687711" cy="2413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3"/>
                </a:solidFill>
                <a:latin typeface="IBM Plex Sans" pitchFamily="34" charset="0"/>
                <a:ea typeface="IBM Plex Sans" pitchFamily="34" charset="-122"/>
                <a:cs typeface="IBM Plex Sans" pitchFamily="34" charset="-120"/>
              </a:rPr>
              <a:t>AxMAC · Milestone 1</a:t>
            </a:r>
            <a:endParaRPr lang="en-US" sz="1200" dirty="0"/>
          </a:p>
        </p:txBody>
      </p:sp>
      <p:sp>
        <p:nvSpPr>
          <p:cNvPr id="11" name="Text 6"/>
          <p:cNvSpPr/>
          <p:nvPr/>
        </p:nvSpPr>
        <p:spPr>
          <a:xfrm>
            <a:off x="11236920" y="6235700"/>
            <a:ext cx="142280" cy="24130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3"/>
                </a:solidFill>
                <a:latin typeface="IBM Plex Sans" pitchFamily="34" charset="0"/>
                <a:ea typeface="IBM Plex Sans" pitchFamily="34" charset="-122"/>
                <a:cs typeface="IBM Plex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4501B"/>
                </a:solidFill>
                <a:latin typeface="IBM Plex Sans" pitchFamily="34" charset="0"/>
                <a:ea typeface="IBM Plex Sans" pitchFamily="34" charset="-122"/>
                <a:cs typeface="IBM Plex Sans" pitchFamily="34" charset="-120"/>
              </a:rPr>
              <a:t>WHAT WE HAVE FOUND SO FAR</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B"/>
                </a:solidFill>
                <a:latin typeface="IBM Plex Sans" pitchFamily="34" charset="0"/>
                <a:ea typeface="IBM Plex Sans" pitchFamily="34" charset="-122"/>
                <a:cs typeface="IBM Plex Sans" pitchFamily="34" charset="-120"/>
              </a:rPr>
              <a:t>Milestone 1 results: error and area across N</a:t>
            </a:r>
            <a:endParaRPr lang="en-US" sz="3200" dirty="0"/>
          </a:p>
        </p:txBody>
      </p:sp>
      <p:sp>
        <p:nvSpPr>
          <p:cNvPr id="4" name="Shape 2"/>
          <p:cNvSpPr/>
          <p:nvPr/>
        </p:nvSpPr>
        <p:spPr>
          <a:xfrm>
            <a:off x="1016000" y="1752501"/>
            <a:ext cx="10160000" cy="2463800"/>
          </a:xfrm>
          <a:prstGeom prst="roundRect">
            <a:avLst>
              <a:gd name="adj" fmla="val 3093"/>
            </a:avLst>
          </a:prstGeom>
          <a:solidFill>
            <a:srgbClr val="FFFFFF"/>
          </a:solidFill>
          <a:ln/>
        </p:spPr>
      </p:sp>
      <p:pic>
        <p:nvPicPr>
          <p:cNvPr id="5" name="Image 0" descr="Four plots against truncation depth N from 1 to 12: mean error distance and maximum error distance rise steadily on a log scale; the number of input pairs hitting the maximum error falls 4x per step until N = 8, then stays at 1; error rate rises from 25% to about 99%">    </p:cNvPr>
          <p:cNvPicPr>
            <a:picLocks noChangeAspect="1"/>
          </p:cNvPicPr>
          <p:nvPr/>
        </p:nvPicPr>
        <p:blipFill>
          <a:blip r:embed="rId1"/>
          <a:srcRect l="-270" r="-270" t="0" b="0"/>
          <a:stretch/>
        </p:blipFill>
        <p:spPr>
          <a:xfrm>
            <a:off x="1022350" y="1758851"/>
            <a:ext cx="10147300" cy="2451100"/>
          </a:xfrm>
          <a:prstGeom prst="roundRect">
            <a:avLst>
              <a:gd name="adj" fmla="val 2850"/>
            </a:avLst>
          </a:prstGeom>
        </p:spPr>
      </p:pic>
      <p:sp>
        <p:nvSpPr>
          <p:cNvPr id="6" name="Shape 3"/>
          <p:cNvSpPr/>
          <p:nvPr/>
        </p:nvSpPr>
        <p:spPr>
          <a:xfrm>
            <a:off x="1019175" y="1755676"/>
            <a:ext cx="10153650" cy="2457450"/>
          </a:xfrm>
          <a:prstGeom prst="roundRect">
            <a:avLst>
              <a:gd name="adj" fmla="val 2972"/>
            </a:avLst>
          </a:prstGeom>
          <a:noFill/>
          <a:ln w="6350">
            <a:solidFill>
              <a:srgbClr val="DDD8CB"/>
            </a:solidFill>
            <a:prstDash val="solid"/>
          </a:ln>
        </p:spPr>
      </p:sp>
      <p:sp>
        <p:nvSpPr>
          <p:cNvPr id="7" name="Shape 4"/>
          <p:cNvSpPr/>
          <p:nvPr/>
        </p:nvSpPr>
        <p:spPr>
          <a:xfrm>
            <a:off x="815975" y="4422676"/>
            <a:ext cx="2372221" cy="1050131"/>
          </a:xfrm>
          <a:prstGeom prst="roundRect">
            <a:avLst>
              <a:gd name="adj" fmla="val 8163"/>
            </a:avLst>
          </a:prstGeom>
          <a:solidFill>
            <a:srgbClr val="FFFFFF"/>
          </a:solidFill>
          <a:ln w="6350">
            <a:solidFill>
              <a:srgbClr val="DDD8CB"/>
            </a:solidFill>
            <a:prstDash val="solid"/>
          </a:ln>
        </p:spPr>
      </p:sp>
      <p:sp>
        <p:nvSpPr>
          <p:cNvPr id="8" name="Text 5"/>
          <p:cNvSpPr/>
          <p:nvPr/>
        </p:nvSpPr>
        <p:spPr>
          <a:xfrm>
            <a:off x="971550" y="4552851"/>
            <a:ext cx="2122903"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563A8"/>
                </a:solidFill>
                <a:latin typeface="IBM Plex Sans" pitchFamily="34" charset="0"/>
                <a:ea typeface="IBM Plex Sans" pitchFamily="34" charset="-122"/>
                <a:cs typeface="IBM Plex Sans" pitchFamily="34" charset="-120"/>
              </a:rPr>
              <a:t>−12.1% area</a:t>
            </a:r>
            <a:endParaRPr lang="en-US" sz="2000" dirty="0"/>
          </a:p>
        </p:txBody>
      </p:sp>
      <p:sp>
        <p:nvSpPr>
          <p:cNvPr id="9" name="Text 6"/>
          <p:cNvSpPr/>
          <p:nvPr/>
        </p:nvSpPr>
        <p:spPr>
          <a:xfrm>
            <a:off x="971550" y="4946551"/>
            <a:ext cx="2122903"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D4752"/>
                </a:solidFill>
                <a:latin typeface="IBM Plex Sans" pitchFamily="34" charset="0"/>
                <a:ea typeface="IBM Plex Sans" pitchFamily="34" charset="-122"/>
                <a:cs typeface="IBM Plex Sans" pitchFamily="34" charset="-120"/>
              </a:rPr>
              <a:t>N = 4 · MED 12.25</a:t>
            </a:r>
            <a:endParaRPr lang="en-US" sz="1200" dirty="0"/>
          </a:p>
          <a:p>
            <a:pPr algn="l" indent="0" marL="0">
              <a:lnSpc>
                <a:spcPts val="1560"/>
              </a:lnSpc>
              <a:buNone/>
            </a:pPr>
            <a:r>
              <a:rPr lang="en-US" sz="1200" dirty="0">
                <a:solidFill>
                  <a:srgbClr val="3D4752"/>
                </a:solidFill>
                <a:latin typeface="IBM Plex Sans" pitchFamily="34" charset="0"/>
                <a:ea typeface="IBM Plex Sans" pitchFamily="34" charset="-122"/>
                <a:cs typeface="IBM Plex Sans" pitchFamily="34" charset="-120"/>
              </a:rPr>
              <a:t>EDmax 49 (256 pairs)</a:t>
            </a:r>
            <a:endParaRPr lang="en-US" sz="1200" dirty="0"/>
          </a:p>
        </p:txBody>
      </p:sp>
      <p:sp>
        <p:nvSpPr>
          <p:cNvPr id="10" name="Shape 7"/>
          <p:cNvSpPr/>
          <p:nvPr/>
        </p:nvSpPr>
        <p:spPr>
          <a:xfrm>
            <a:off x="3346946" y="4422676"/>
            <a:ext cx="2372320" cy="1050131"/>
          </a:xfrm>
          <a:prstGeom prst="roundRect">
            <a:avLst>
              <a:gd name="adj" fmla="val 8163"/>
            </a:avLst>
          </a:prstGeom>
          <a:solidFill>
            <a:srgbClr val="FFFFFF"/>
          </a:solidFill>
          <a:ln w="6350">
            <a:solidFill>
              <a:srgbClr val="DDD8CB"/>
            </a:solidFill>
            <a:prstDash val="solid"/>
          </a:ln>
        </p:spPr>
      </p:sp>
      <p:sp>
        <p:nvSpPr>
          <p:cNvPr id="11" name="Text 8"/>
          <p:cNvSpPr/>
          <p:nvPr/>
        </p:nvSpPr>
        <p:spPr>
          <a:xfrm>
            <a:off x="3502521" y="4552851"/>
            <a:ext cx="2123005"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563A8"/>
                </a:solidFill>
                <a:latin typeface="IBM Plex Sans" pitchFamily="34" charset="0"/>
                <a:ea typeface="IBM Plex Sans" pitchFamily="34" charset="-122"/>
                <a:cs typeface="IBM Plex Sans" pitchFamily="34" charset="-120"/>
              </a:rPr>
              <a:t>−54.8% area</a:t>
            </a:r>
            <a:endParaRPr lang="en-US" sz="2000" dirty="0"/>
          </a:p>
        </p:txBody>
      </p:sp>
      <p:sp>
        <p:nvSpPr>
          <p:cNvPr id="12" name="Text 9"/>
          <p:cNvSpPr/>
          <p:nvPr/>
        </p:nvSpPr>
        <p:spPr>
          <a:xfrm>
            <a:off x="3502521" y="4946551"/>
            <a:ext cx="2123005"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D4752"/>
                </a:solidFill>
                <a:latin typeface="IBM Plex Sans" pitchFamily="34" charset="0"/>
                <a:ea typeface="IBM Plex Sans" pitchFamily="34" charset="-122"/>
                <a:cs typeface="IBM Plex Sans" pitchFamily="34" charset="-120"/>
              </a:rPr>
              <a:t>N = 8 · MED 448</a:t>
            </a:r>
            <a:endParaRPr lang="en-US" sz="1200" dirty="0"/>
          </a:p>
          <a:p>
            <a:pPr algn="l" indent="0" marL="0">
              <a:lnSpc>
                <a:spcPts val="1560"/>
              </a:lnSpc>
              <a:buNone/>
            </a:pPr>
            <a:r>
              <a:rPr lang="en-US" sz="1200" dirty="0">
                <a:solidFill>
                  <a:srgbClr val="3D4752"/>
                </a:solidFill>
                <a:latin typeface="IBM Plex Sans" pitchFamily="34" charset="0"/>
                <a:ea typeface="IBM Plex Sans" pitchFamily="34" charset="-122"/>
                <a:cs typeface="IBM Plex Sans" pitchFamily="34" charset="-120"/>
              </a:rPr>
              <a:t>NMED 0.69%</a:t>
            </a:r>
            <a:endParaRPr lang="en-US" sz="1200" dirty="0"/>
          </a:p>
        </p:txBody>
      </p:sp>
      <p:sp>
        <p:nvSpPr>
          <p:cNvPr id="13" name="Shape 10"/>
          <p:cNvSpPr/>
          <p:nvPr/>
        </p:nvSpPr>
        <p:spPr>
          <a:xfrm>
            <a:off x="5878016" y="4422676"/>
            <a:ext cx="2372221" cy="1050131"/>
          </a:xfrm>
          <a:prstGeom prst="roundRect">
            <a:avLst>
              <a:gd name="adj" fmla="val 8163"/>
            </a:avLst>
          </a:prstGeom>
          <a:solidFill>
            <a:srgbClr val="FFFFFF"/>
          </a:solidFill>
          <a:ln w="6350">
            <a:solidFill>
              <a:srgbClr val="DDD8CB"/>
            </a:solidFill>
            <a:prstDash val="solid"/>
          </a:ln>
        </p:spPr>
      </p:sp>
      <p:sp>
        <p:nvSpPr>
          <p:cNvPr id="14" name="Text 11"/>
          <p:cNvSpPr/>
          <p:nvPr/>
        </p:nvSpPr>
        <p:spPr>
          <a:xfrm>
            <a:off x="6033591" y="4552851"/>
            <a:ext cx="2122903"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563A8"/>
                </a:solidFill>
                <a:latin typeface="IBM Plex Sans" pitchFamily="34" charset="0"/>
                <a:ea typeface="IBM Plex Sans" pitchFamily="34" charset="-122"/>
                <a:cs typeface="IBM Plex Sans" pitchFamily="34" charset="-120"/>
              </a:rPr>
              <a:t>−93.2% area</a:t>
            </a:r>
            <a:endParaRPr lang="en-US" sz="2000" dirty="0"/>
          </a:p>
        </p:txBody>
      </p:sp>
      <p:sp>
        <p:nvSpPr>
          <p:cNvPr id="15" name="Text 12"/>
          <p:cNvSpPr/>
          <p:nvPr/>
        </p:nvSpPr>
        <p:spPr>
          <a:xfrm>
            <a:off x="6033591" y="4946551"/>
            <a:ext cx="2122903"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D4752"/>
                </a:solidFill>
                <a:latin typeface="IBM Plex Sans" pitchFamily="34" charset="0"/>
                <a:ea typeface="IBM Plex Sans" pitchFamily="34" charset="-122"/>
                <a:cs typeface="IBM Plex Sans" pitchFamily="34" charset="-120"/>
              </a:rPr>
              <a:t>N = 12 · MED 4,992</a:t>
            </a:r>
            <a:endParaRPr lang="en-US" sz="1200" dirty="0"/>
          </a:p>
          <a:p>
            <a:pPr algn="l" indent="0" marL="0">
              <a:lnSpc>
                <a:spcPts val="1560"/>
              </a:lnSpc>
              <a:buNone/>
            </a:pPr>
            <a:r>
              <a:rPr lang="en-US" sz="1200" dirty="0">
                <a:solidFill>
                  <a:srgbClr val="3D4752"/>
                </a:solidFill>
                <a:latin typeface="IBM Plex Sans" pitchFamily="34" charset="0"/>
                <a:ea typeface="IBM Plex Sans" pitchFamily="34" charset="-122"/>
                <a:cs typeface="IBM Plex Sans" pitchFamily="34" charset="-120"/>
              </a:rPr>
              <a:t>NMED 7.68%</a:t>
            </a:r>
            <a:endParaRPr lang="en-US" sz="1200" dirty="0"/>
          </a:p>
        </p:txBody>
      </p:sp>
      <p:sp>
        <p:nvSpPr>
          <p:cNvPr id="16" name="Shape 13"/>
          <p:cNvSpPr/>
          <p:nvPr/>
        </p:nvSpPr>
        <p:spPr>
          <a:xfrm>
            <a:off x="8405813" y="4419501"/>
            <a:ext cx="2973288" cy="1056481"/>
          </a:xfrm>
          <a:prstGeom prst="roundRect">
            <a:avLst>
              <a:gd name="adj" fmla="val 8415"/>
            </a:avLst>
          </a:prstGeom>
          <a:solidFill>
            <a:srgbClr val="16202B"/>
          </a:solidFill>
          <a:ln/>
        </p:spPr>
      </p:sp>
      <p:sp>
        <p:nvSpPr>
          <p:cNvPr id="17" name="Text 14"/>
          <p:cNvSpPr/>
          <p:nvPr/>
        </p:nvSpPr>
        <p:spPr>
          <a:xfrm>
            <a:off x="8558213" y="4546501"/>
            <a:ext cx="2748543"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0955A"/>
                </a:solidFill>
                <a:latin typeface="IBM Plex Sans" pitchFamily="34" charset="0"/>
                <a:ea typeface="IBM Plex Sans" pitchFamily="34" charset="-122"/>
                <a:cs typeface="IBM Plex Sans" pitchFamily="34" charset="-120"/>
              </a:rPr>
              <a:t>Exact, N = 0</a:t>
            </a:r>
            <a:endParaRPr lang="en-US" sz="2000" dirty="0"/>
          </a:p>
        </p:txBody>
      </p:sp>
      <p:sp>
        <p:nvSpPr>
          <p:cNvPr id="18" name="Text 15"/>
          <p:cNvSpPr/>
          <p:nvPr/>
        </p:nvSpPr>
        <p:spPr>
          <a:xfrm>
            <a:off x="8558213" y="4940201"/>
            <a:ext cx="2748543"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5CED8"/>
                </a:solidFill>
                <a:latin typeface="IBM Plex Sans" pitchFamily="34" charset="0"/>
                <a:ea typeface="IBM Plex Sans" pitchFamily="34" charset="-122"/>
                <a:cs typeface="IBM Plex Sans" pitchFamily="34" charset="-120"/>
              </a:rPr>
              <a:t>vs Yosys a*b: a*b uses +8.2% area,</a:t>
            </a:r>
            <a:endParaRPr lang="en-US" sz="1200" dirty="0"/>
          </a:p>
          <a:p>
            <a:pPr algn="l" indent="0" marL="0">
              <a:lnSpc>
                <a:spcPts val="1560"/>
              </a:lnSpc>
              <a:buNone/>
            </a:pPr>
            <a:r>
              <a:rPr lang="en-US" sz="1200" dirty="0">
                <a:solidFill>
                  <a:srgbClr val="C5CED8"/>
                </a:solidFill>
                <a:latin typeface="IBM Plex Sans" pitchFamily="34" charset="0"/>
                <a:ea typeface="IBM Plex Sans" pitchFamily="34" charset="-122"/>
                <a:cs typeface="IBM Plex Sans" pitchFamily="34" charset="-120"/>
              </a:rPr>
              <a:t>+5.8% power, is 2.4% faster</a:t>
            </a:r>
            <a:endParaRPr lang="en-US" sz="1200" dirty="0"/>
          </a:p>
        </p:txBody>
      </p:sp>
      <p:sp>
        <p:nvSpPr>
          <p:cNvPr id="19" name="Text 16"/>
          <p:cNvSpPr/>
          <p:nvPr/>
        </p:nvSpPr>
        <p:spPr>
          <a:xfrm>
            <a:off x="812800" y="6235700"/>
            <a:ext cx="7395567" cy="2413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3"/>
                </a:solidFill>
                <a:latin typeface="IBM Plex Sans" pitchFamily="34" charset="0"/>
                <a:ea typeface="IBM Plex Sans" pitchFamily="34" charset="-122"/>
                <a:cs typeface="IBM Plex Sans" pitchFamily="34" charset="-120"/>
              </a:rPr>
              <a:t>Area vs N = 0 · Yosys 0.33 + OpenSTA 3.1.0 · sky130_fd_sc_hd tt 25 °C 1.80 V · pre-layout</a:t>
            </a:r>
            <a:endParaRPr lang="en-US" sz="1200" dirty="0"/>
          </a:p>
        </p:txBody>
      </p:sp>
      <p:sp>
        <p:nvSpPr>
          <p:cNvPr id="20" name="Text 17"/>
          <p:cNvSpPr/>
          <p:nvPr/>
        </p:nvSpPr>
        <p:spPr>
          <a:xfrm>
            <a:off x="11236920" y="6235700"/>
            <a:ext cx="142280" cy="24130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3"/>
                </a:solidFill>
                <a:latin typeface="IBM Plex Sans" pitchFamily="34" charset="0"/>
                <a:ea typeface="IBM Plex Sans" pitchFamily="34" charset="-122"/>
                <a:cs typeface="IBM Plex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CE8D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4501B"/>
                </a:solidFill>
                <a:latin typeface="IBM Plex Sans" pitchFamily="34" charset="0"/>
                <a:ea typeface="IBM Plex Sans" pitchFamily="34" charset="-122"/>
                <a:cs typeface="IBM Plex Sans" pitchFamily="34" charset="-120"/>
              </a:rPr>
              <a:t>HOW THE REPO IS STRUCTURED</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B"/>
                </a:solidFill>
                <a:latin typeface="IBM Plex Sans" pitchFamily="34" charset="0"/>
                <a:ea typeface="IBM Plex Sans" pitchFamily="34" charset="-122"/>
                <a:cs typeface="IBM Plex Sans" pitchFamily="34" charset="-120"/>
              </a:rPr>
              <a:t>Repository: every file has one job</a:t>
            </a:r>
            <a:endParaRPr lang="en-US" sz="3200" dirty="0"/>
          </a:p>
        </p:txBody>
      </p:sp>
      <p:sp>
        <p:nvSpPr>
          <p:cNvPr id="4" name="Text 2"/>
          <p:cNvSpPr/>
          <p:nvPr/>
        </p:nvSpPr>
        <p:spPr>
          <a:xfrm>
            <a:off x="812800" y="1777901"/>
            <a:ext cx="531088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4501B"/>
                </a:solidFill>
                <a:latin typeface="IBM Plex Sans" pitchFamily="34" charset="0"/>
                <a:ea typeface="IBM Plex Sans" pitchFamily="34" charset="-122"/>
                <a:cs typeface="IBM Plex Sans" pitchFamily="34" charset="-120"/>
              </a:rPr>
              <a:t>rtl/ · the hardware</a:t>
            </a:r>
            <a:endParaRPr lang="en-US" sz="1200" dirty="0"/>
          </a:p>
        </p:txBody>
      </p:sp>
      <p:sp>
        <p:nvSpPr>
          <p:cNvPr id="5" name="Text 3"/>
          <p:cNvSpPr/>
          <p:nvPr/>
        </p:nvSpPr>
        <p:spPr>
          <a:xfrm>
            <a:off x="812800" y="2029321"/>
            <a:ext cx="2616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563A8"/>
                </a:solidFill>
                <a:latin typeface="JetBrains Mono" pitchFamily="49" charset="0"/>
                <a:ea typeface="JetBrains Mono" pitchFamily="49" charset="-122"/>
                <a:cs typeface="JetBrains Mono" pitchFamily="49" charset="-120"/>
              </a:rPr>
              <a:t>approx_mul.sv</a:t>
            </a:r>
            <a:endParaRPr lang="en-US" sz="1200" dirty="0"/>
          </a:p>
        </p:txBody>
      </p:sp>
      <p:sp>
        <p:nvSpPr>
          <p:cNvPr id="6" name="Text 4"/>
          <p:cNvSpPr/>
          <p:nvPr/>
        </p:nvSpPr>
        <p:spPr>
          <a:xfrm>
            <a:off x="3454400" y="2029321"/>
            <a:ext cx="259003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multiplier; zeroes N columns</a:t>
            </a:r>
            <a:endParaRPr lang="en-US" sz="1200" dirty="0"/>
          </a:p>
        </p:txBody>
      </p:sp>
      <p:sp>
        <p:nvSpPr>
          <p:cNvPr id="7" name="Text 5"/>
          <p:cNvSpPr/>
          <p:nvPr/>
        </p:nvSpPr>
        <p:spPr>
          <a:xfrm>
            <a:off x="812800" y="2280741"/>
            <a:ext cx="2616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563A8"/>
                </a:solidFill>
                <a:latin typeface="JetBrains Mono" pitchFamily="49" charset="0"/>
                <a:ea typeface="JetBrains Mono" pitchFamily="49" charset="-122"/>
                <a:cs typeface="JetBrains Mono" pitchFamily="49" charset="-120"/>
              </a:rPr>
              <a:t>dadda8_reduce.sv</a:t>
            </a:r>
            <a:endParaRPr lang="en-US" sz="1200" dirty="0"/>
          </a:p>
        </p:txBody>
      </p:sp>
      <p:sp>
        <p:nvSpPr>
          <p:cNvPr id="8" name="Text 6"/>
          <p:cNvSpPr/>
          <p:nvPr/>
        </p:nvSpPr>
        <p:spPr>
          <a:xfrm>
            <a:off x="3454400" y="2280741"/>
            <a:ext cx="259003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generated tree: 35 FA + 7 HA</a:t>
            </a:r>
            <a:endParaRPr lang="en-US" sz="1200" dirty="0"/>
          </a:p>
        </p:txBody>
      </p:sp>
      <p:sp>
        <p:nvSpPr>
          <p:cNvPr id="9" name="Text 7"/>
          <p:cNvSpPr/>
          <p:nvPr/>
        </p:nvSpPr>
        <p:spPr>
          <a:xfrm>
            <a:off x="812800" y="2532162"/>
            <a:ext cx="2616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563A8"/>
                </a:solidFill>
                <a:latin typeface="JetBrains Mono" pitchFamily="49" charset="0"/>
                <a:ea typeface="JetBrains Mono" pitchFamily="49" charset="-122"/>
                <a:cs typeface="JetBrains Mono" pitchFamily="49" charset="-120"/>
              </a:rPr>
              <a:t>full/half_adder.sv</a:t>
            </a:r>
            <a:endParaRPr lang="en-US" sz="1200" dirty="0"/>
          </a:p>
        </p:txBody>
      </p:sp>
      <p:sp>
        <p:nvSpPr>
          <p:cNvPr id="10" name="Text 8"/>
          <p:cNvSpPr/>
          <p:nvPr/>
        </p:nvSpPr>
        <p:spPr>
          <a:xfrm>
            <a:off x="3454400" y="2532162"/>
            <a:ext cx="259003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the two adder building blocks</a:t>
            </a:r>
            <a:endParaRPr lang="en-US" sz="1200" dirty="0"/>
          </a:p>
        </p:txBody>
      </p:sp>
      <p:sp>
        <p:nvSpPr>
          <p:cNvPr id="11" name="Text 9"/>
          <p:cNvSpPr/>
          <p:nvPr/>
        </p:nvSpPr>
        <p:spPr>
          <a:xfrm>
            <a:off x="812800" y="2783582"/>
            <a:ext cx="2616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563A8"/>
                </a:solidFill>
                <a:latin typeface="JetBrains Mono" pitchFamily="49" charset="0"/>
                <a:ea typeface="JetBrains Mono" pitchFamily="49" charset="-122"/>
                <a:cs typeface="JetBrains Mono" pitchFamily="49" charset="-120"/>
              </a:rPr>
              <a:t>mul_behav.sv</a:t>
            </a:r>
            <a:endParaRPr lang="en-US" sz="1200" dirty="0"/>
          </a:p>
        </p:txBody>
      </p:sp>
      <p:sp>
        <p:nvSpPr>
          <p:cNvPr id="12" name="Text 10"/>
          <p:cNvSpPr/>
          <p:nvPr/>
        </p:nvSpPr>
        <p:spPr>
          <a:xfrm>
            <a:off x="3454400" y="2783582"/>
            <a:ext cx="259003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plain a*b, for comparison</a:t>
            </a:r>
            <a:endParaRPr lang="en-US" sz="1200" dirty="0"/>
          </a:p>
        </p:txBody>
      </p:sp>
      <p:sp>
        <p:nvSpPr>
          <p:cNvPr id="13" name="Text 11"/>
          <p:cNvSpPr/>
          <p:nvPr/>
        </p:nvSpPr>
        <p:spPr>
          <a:xfrm>
            <a:off x="812800" y="3035002"/>
            <a:ext cx="2616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563A8"/>
                </a:solidFill>
                <a:latin typeface="JetBrains Mono" pitchFamily="49" charset="0"/>
                <a:ea typeface="JetBrains Mono" pitchFamily="49" charset="-122"/>
                <a:cs typeface="JetBrains Mono" pitchFamily="49" charset="-120"/>
              </a:rPr>
              <a:t>mul_wrap.sv</a:t>
            </a:r>
            <a:endParaRPr lang="en-US" sz="1200" dirty="0"/>
          </a:p>
        </p:txBody>
      </p:sp>
      <p:sp>
        <p:nvSpPr>
          <p:cNvPr id="14" name="Text 12"/>
          <p:cNvSpPr/>
          <p:nvPr/>
        </p:nvSpPr>
        <p:spPr>
          <a:xfrm>
            <a:off x="3454400" y="3035002"/>
            <a:ext cx="259003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flip-flops around it (timing)</a:t>
            </a:r>
            <a:endParaRPr lang="en-US" sz="1200" dirty="0"/>
          </a:p>
        </p:txBody>
      </p:sp>
      <p:sp>
        <p:nvSpPr>
          <p:cNvPr id="15" name="Text 13"/>
          <p:cNvSpPr/>
          <p:nvPr/>
        </p:nvSpPr>
        <p:spPr>
          <a:xfrm>
            <a:off x="812800" y="3362623"/>
            <a:ext cx="531088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4501B"/>
                </a:solidFill>
                <a:latin typeface="IBM Plex Sans" pitchFamily="34" charset="0"/>
                <a:ea typeface="IBM Plex Sans" pitchFamily="34" charset="-122"/>
                <a:cs typeface="IBM Plex Sans" pitchFamily="34" charset="-120"/>
              </a:rPr>
              <a:t>tb/ · testbenches</a:t>
            </a:r>
            <a:endParaRPr lang="en-US" sz="1200" dirty="0"/>
          </a:p>
        </p:txBody>
      </p:sp>
      <p:sp>
        <p:nvSpPr>
          <p:cNvPr id="16" name="Text 14"/>
          <p:cNvSpPr/>
          <p:nvPr/>
        </p:nvSpPr>
        <p:spPr>
          <a:xfrm>
            <a:off x="812800" y="3614043"/>
            <a:ext cx="2641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563A8"/>
                </a:solidFill>
                <a:latin typeface="JetBrains Mono" pitchFamily="49" charset="0"/>
                <a:ea typeface="JetBrains Mono" pitchFamily="49" charset="-122"/>
                <a:cs typeface="JetBrains Mono" pitchFamily="49" charset="-120"/>
              </a:rPr>
              <a:t>tb_approx_mul_exhaustive.sv</a:t>
            </a:r>
            <a:endParaRPr lang="en-US" sz="1200" dirty="0"/>
          </a:p>
        </p:txBody>
      </p:sp>
      <p:sp>
        <p:nvSpPr>
          <p:cNvPr id="17" name="Text 15"/>
          <p:cNvSpPr/>
          <p:nvPr/>
        </p:nvSpPr>
        <p:spPr>
          <a:xfrm>
            <a:off x="3454400" y="3614043"/>
            <a:ext cx="259003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all 65,536 pairs → dump file</a:t>
            </a:r>
            <a:endParaRPr lang="en-US" sz="1200" dirty="0"/>
          </a:p>
        </p:txBody>
      </p:sp>
      <p:sp>
        <p:nvSpPr>
          <p:cNvPr id="18" name="Text 16"/>
          <p:cNvSpPr/>
          <p:nvPr/>
        </p:nvSpPr>
        <p:spPr>
          <a:xfrm>
            <a:off x="812800" y="3865463"/>
            <a:ext cx="2616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563A8"/>
                </a:solidFill>
                <a:latin typeface="JetBrains Mono" pitchFamily="49" charset="0"/>
                <a:ea typeface="JetBrains Mono" pitchFamily="49" charset="-122"/>
                <a:cs typeface="JetBrains Mono" pitchFamily="49" charset="-120"/>
              </a:rPr>
              <a:t>tb_power.sv</a:t>
            </a:r>
            <a:endParaRPr lang="en-US" sz="1200" dirty="0"/>
          </a:p>
        </p:txBody>
      </p:sp>
      <p:sp>
        <p:nvSpPr>
          <p:cNvPr id="19" name="Text 17"/>
          <p:cNvSpPr/>
          <p:nvPr/>
        </p:nvSpPr>
        <p:spPr>
          <a:xfrm>
            <a:off x="3454400" y="3865463"/>
            <a:ext cx="259003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gate-level sim for power</a:t>
            </a:r>
            <a:endParaRPr lang="en-US" sz="1200" dirty="0"/>
          </a:p>
        </p:txBody>
      </p:sp>
      <p:sp>
        <p:nvSpPr>
          <p:cNvPr id="20" name="Text 18"/>
          <p:cNvSpPr/>
          <p:nvPr/>
        </p:nvSpPr>
        <p:spPr>
          <a:xfrm>
            <a:off x="812800" y="4193084"/>
            <a:ext cx="531088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4501B"/>
                </a:solidFill>
                <a:latin typeface="IBM Plex Sans" pitchFamily="34" charset="0"/>
                <a:ea typeface="IBM Plex Sans" pitchFamily="34" charset="-122"/>
                <a:cs typeface="IBM Plex Sans" pitchFamily="34" charset="-120"/>
              </a:rPr>
              <a:t>scripts/ · helpers</a:t>
            </a:r>
            <a:endParaRPr lang="en-US" sz="1200" dirty="0"/>
          </a:p>
        </p:txBody>
      </p:sp>
      <p:sp>
        <p:nvSpPr>
          <p:cNvPr id="21" name="Text 19"/>
          <p:cNvSpPr/>
          <p:nvPr/>
        </p:nvSpPr>
        <p:spPr>
          <a:xfrm>
            <a:off x="812800" y="4444504"/>
            <a:ext cx="2616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563A8"/>
                </a:solidFill>
                <a:latin typeface="JetBrains Mono" pitchFamily="49" charset="0"/>
                <a:ea typeface="JetBrains Mono" pitchFamily="49" charset="-122"/>
                <a:cs typeface="JetBrains Mono" pitchFamily="49" charset="-120"/>
              </a:rPr>
              <a:t>gen_dadda.py</a:t>
            </a:r>
            <a:endParaRPr lang="en-US" sz="1200" dirty="0"/>
          </a:p>
        </p:txBody>
      </p:sp>
      <p:sp>
        <p:nvSpPr>
          <p:cNvPr id="22" name="Text 20"/>
          <p:cNvSpPr/>
          <p:nvPr/>
        </p:nvSpPr>
        <p:spPr>
          <a:xfrm>
            <a:off x="3454400" y="4444504"/>
            <a:ext cx="259003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plans, checks, writes the tree</a:t>
            </a:r>
            <a:endParaRPr lang="en-US" sz="1200" dirty="0"/>
          </a:p>
        </p:txBody>
      </p:sp>
      <p:sp>
        <p:nvSpPr>
          <p:cNvPr id="23" name="Text 21"/>
          <p:cNvSpPr/>
          <p:nvPr/>
        </p:nvSpPr>
        <p:spPr>
          <a:xfrm>
            <a:off x="812800" y="4695924"/>
            <a:ext cx="2616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563A8"/>
                </a:solidFill>
                <a:latin typeface="JetBrains Mono" pitchFamily="49" charset="0"/>
                <a:ea typeface="JetBrains Mono" pitchFamily="49" charset="-122"/>
                <a:cs typeface="JetBrains Mono" pitchFamily="49" charset="-120"/>
              </a:rPr>
              <a:t>md_tables.py</a:t>
            </a:r>
            <a:endParaRPr lang="en-US" sz="1200" dirty="0"/>
          </a:p>
        </p:txBody>
      </p:sp>
      <p:sp>
        <p:nvSpPr>
          <p:cNvPr id="24" name="Text 22"/>
          <p:cNvSpPr/>
          <p:nvPr/>
        </p:nvSpPr>
        <p:spPr>
          <a:xfrm>
            <a:off x="3454400" y="4695924"/>
            <a:ext cx="259003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docs tables from results/</a:t>
            </a:r>
            <a:endParaRPr lang="en-US" sz="1200" dirty="0"/>
          </a:p>
        </p:txBody>
      </p:sp>
      <p:sp>
        <p:nvSpPr>
          <p:cNvPr id="25" name="Text 23"/>
          <p:cNvSpPr/>
          <p:nvPr/>
        </p:nvSpPr>
        <p:spPr>
          <a:xfrm>
            <a:off x="812800" y="4947345"/>
            <a:ext cx="2616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563A8"/>
                </a:solidFill>
                <a:latin typeface="JetBrains Mono" pitchFamily="49" charset="0"/>
                <a:ea typeface="JetBrains Mono" pitchFamily="49" charset="-122"/>
                <a:cs typeface="JetBrains Mono" pitchFamily="49" charset="-120"/>
              </a:rPr>
              <a:t>tool_versions.sh</a:t>
            </a:r>
            <a:endParaRPr lang="en-US" sz="1200" dirty="0"/>
          </a:p>
        </p:txBody>
      </p:sp>
      <p:sp>
        <p:nvSpPr>
          <p:cNvPr id="26" name="Text 24"/>
          <p:cNvSpPr/>
          <p:nvPr/>
        </p:nvSpPr>
        <p:spPr>
          <a:xfrm>
            <a:off x="3454400" y="4947345"/>
            <a:ext cx="259003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records every tool version</a:t>
            </a:r>
            <a:endParaRPr lang="en-US" sz="1200" dirty="0"/>
          </a:p>
        </p:txBody>
      </p:sp>
      <p:sp>
        <p:nvSpPr>
          <p:cNvPr id="27" name="Text 25"/>
          <p:cNvSpPr/>
          <p:nvPr/>
        </p:nvSpPr>
        <p:spPr>
          <a:xfrm>
            <a:off x="6223000" y="1777901"/>
            <a:ext cx="531088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4501B"/>
                </a:solidFill>
                <a:latin typeface="IBM Plex Sans" pitchFamily="34" charset="0"/>
                <a:ea typeface="IBM Plex Sans" pitchFamily="34" charset="-122"/>
                <a:cs typeface="IBM Plex Sans" pitchFamily="34" charset="-120"/>
              </a:rPr>
              <a:t>model/ · the Python reference</a:t>
            </a:r>
            <a:endParaRPr lang="en-US" sz="1200" dirty="0"/>
          </a:p>
        </p:txBody>
      </p:sp>
      <p:sp>
        <p:nvSpPr>
          <p:cNvPr id="28" name="Text 26"/>
          <p:cNvSpPr/>
          <p:nvPr/>
        </p:nvSpPr>
        <p:spPr>
          <a:xfrm>
            <a:off x="6223000" y="2029321"/>
            <a:ext cx="1962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563A8"/>
                </a:solidFill>
                <a:latin typeface="JetBrains Mono" pitchFamily="49" charset="0"/>
                <a:ea typeface="JetBrains Mono" pitchFamily="49" charset="-122"/>
                <a:cs typeface="JetBrains Mono" pitchFamily="49" charset="-120"/>
              </a:rPr>
              <a:t>approx_mul.py</a:t>
            </a:r>
            <a:endParaRPr lang="en-US" sz="1200" dirty="0"/>
          </a:p>
        </p:txBody>
      </p:sp>
      <p:sp>
        <p:nvSpPr>
          <p:cNvPr id="29" name="Text 27"/>
          <p:cNvSpPr/>
          <p:nvPr/>
        </p:nvSpPr>
        <p:spPr>
          <a:xfrm>
            <a:off x="8229600" y="2029321"/>
            <a:ext cx="324408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bit-exact model + LUT per N</a:t>
            </a:r>
            <a:endParaRPr lang="en-US" sz="1200" dirty="0"/>
          </a:p>
        </p:txBody>
      </p:sp>
      <p:sp>
        <p:nvSpPr>
          <p:cNvPr id="30" name="Text 28"/>
          <p:cNvSpPr/>
          <p:nvPr/>
        </p:nvSpPr>
        <p:spPr>
          <a:xfrm>
            <a:off x="6223000" y="2280741"/>
            <a:ext cx="1962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563A8"/>
                </a:solidFill>
                <a:latin typeface="JetBrains Mono" pitchFamily="49" charset="0"/>
                <a:ea typeface="JetBrains Mono" pitchFamily="49" charset="-122"/>
                <a:cs typeface="JetBrains Mono" pitchFamily="49" charset="-120"/>
              </a:rPr>
              <a:t>check_rtl.py</a:t>
            </a:r>
            <a:endParaRPr lang="en-US" sz="1200" dirty="0"/>
          </a:p>
        </p:txBody>
      </p:sp>
      <p:sp>
        <p:nvSpPr>
          <p:cNvPr id="31" name="Text 29"/>
          <p:cNvSpPr/>
          <p:nvPr/>
        </p:nvSpPr>
        <p:spPr>
          <a:xfrm>
            <a:off x="8229600" y="2280741"/>
            <a:ext cx="324408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RTL dump vs model: PASS / FAIL</a:t>
            </a:r>
            <a:endParaRPr lang="en-US" sz="1200" dirty="0"/>
          </a:p>
        </p:txBody>
      </p:sp>
      <p:sp>
        <p:nvSpPr>
          <p:cNvPr id="32" name="Text 30"/>
          <p:cNvSpPr/>
          <p:nvPr/>
        </p:nvSpPr>
        <p:spPr>
          <a:xfrm>
            <a:off x="6223000" y="2532162"/>
            <a:ext cx="1962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563A8"/>
                </a:solidFill>
                <a:latin typeface="JetBrains Mono" pitchFamily="49" charset="0"/>
                <a:ea typeface="JetBrains Mono" pitchFamily="49" charset="-122"/>
                <a:cs typeface="JetBrains Mono" pitchFamily="49" charset="-120"/>
              </a:rPr>
              <a:t>metrics.py</a:t>
            </a:r>
            <a:endParaRPr lang="en-US" sz="1200" dirty="0"/>
          </a:p>
        </p:txBody>
      </p:sp>
      <p:sp>
        <p:nvSpPr>
          <p:cNvPr id="33" name="Text 31"/>
          <p:cNvSpPr/>
          <p:nvPr/>
        </p:nvSpPr>
        <p:spPr>
          <a:xfrm>
            <a:off x="8229600" y="2532162"/>
            <a:ext cx="324408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ER, ME, MED, NMED, MRED, EDmax</a:t>
            </a:r>
            <a:endParaRPr lang="en-US" sz="1200" dirty="0"/>
          </a:p>
        </p:txBody>
      </p:sp>
      <p:sp>
        <p:nvSpPr>
          <p:cNvPr id="34" name="Text 32"/>
          <p:cNvSpPr/>
          <p:nvPr/>
        </p:nvSpPr>
        <p:spPr>
          <a:xfrm>
            <a:off x="6223000" y="2783582"/>
            <a:ext cx="1962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563A8"/>
                </a:solidFill>
                <a:latin typeface="JetBrains Mono" pitchFamily="49" charset="0"/>
                <a:ea typeface="JetBrains Mono" pitchFamily="49" charset="-122"/>
                <a:cs typeface="JetBrains Mono" pitchFamily="49" charset="-120"/>
              </a:rPr>
              <a:t>tests/</a:t>
            </a:r>
            <a:endParaRPr lang="en-US" sz="1200" dirty="0"/>
          </a:p>
        </p:txBody>
      </p:sp>
      <p:sp>
        <p:nvSpPr>
          <p:cNvPr id="35" name="Text 33"/>
          <p:cNvSpPr/>
          <p:nvPr/>
        </p:nvSpPr>
        <p:spPr>
          <a:xfrm>
            <a:off x="8229600" y="2783582"/>
            <a:ext cx="324408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42 pytest checks of the model</a:t>
            </a:r>
            <a:endParaRPr lang="en-US" sz="1200" dirty="0"/>
          </a:p>
        </p:txBody>
      </p:sp>
      <p:sp>
        <p:nvSpPr>
          <p:cNvPr id="36" name="Text 34"/>
          <p:cNvSpPr/>
          <p:nvPr/>
        </p:nvSpPr>
        <p:spPr>
          <a:xfrm>
            <a:off x="6223000" y="3111202"/>
            <a:ext cx="531088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4501B"/>
                </a:solidFill>
                <a:latin typeface="IBM Plex Sans" pitchFamily="34" charset="0"/>
                <a:ea typeface="IBM Plex Sans" pitchFamily="34" charset="-122"/>
                <a:cs typeface="IBM Plex Sans" pitchFamily="34" charset="-120"/>
              </a:rPr>
              <a:t>flow/ · synthesis, timing, power</a:t>
            </a:r>
            <a:endParaRPr lang="en-US" sz="1200" dirty="0"/>
          </a:p>
        </p:txBody>
      </p:sp>
      <p:sp>
        <p:nvSpPr>
          <p:cNvPr id="37" name="Text 35"/>
          <p:cNvSpPr/>
          <p:nvPr/>
        </p:nvSpPr>
        <p:spPr>
          <a:xfrm>
            <a:off x="6223000" y="3362623"/>
            <a:ext cx="1962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563A8"/>
                </a:solidFill>
                <a:latin typeface="JetBrains Mono" pitchFamily="49" charset="0"/>
                <a:ea typeface="JetBrains Mono" pitchFamily="49" charset="-122"/>
                <a:cs typeface="JetBrains Mono" pitchFamily="49" charset="-120"/>
              </a:rPr>
              <a:t>config.mk</a:t>
            </a:r>
            <a:endParaRPr lang="en-US" sz="1200" dirty="0"/>
          </a:p>
        </p:txBody>
      </p:sp>
      <p:sp>
        <p:nvSpPr>
          <p:cNvPr id="38" name="Text 36"/>
          <p:cNvSpPr/>
          <p:nvPr/>
        </p:nvSpPr>
        <p:spPr>
          <a:xfrm>
            <a:off x="8229600" y="3362623"/>
            <a:ext cx="324408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all tool and PDK paths</a:t>
            </a:r>
            <a:endParaRPr lang="en-US" sz="1200" dirty="0"/>
          </a:p>
        </p:txBody>
      </p:sp>
      <p:sp>
        <p:nvSpPr>
          <p:cNvPr id="39" name="Text 37"/>
          <p:cNvSpPr/>
          <p:nvPr/>
        </p:nvSpPr>
        <p:spPr>
          <a:xfrm>
            <a:off x="6223000" y="3614043"/>
            <a:ext cx="1962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563A8"/>
                </a:solidFill>
                <a:latin typeface="JetBrains Mono" pitchFamily="49" charset="0"/>
                <a:ea typeface="JetBrains Mono" pitchFamily="49" charset="-122"/>
                <a:cs typeface="JetBrains Mono" pitchFamily="49" charset="-120"/>
              </a:rPr>
              <a:t>synth.tcl</a:t>
            </a:r>
            <a:endParaRPr lang="en-US" sz="1200" dirty="0"/>
          </a:p>
        </p:txBody>
      </p:sp>
      <p:sp>
        <p:nvSpPr>
          <p:cNvPr id="40" name="Text 38"/>
          <p:cNvSpPr/>
          <p:nvPr/>
        </p:nvSpPr>
        <p:spPr>
          <a:xfrm>
            <a:off x="8229600" y="3614043"/>
            <a:ext cx="324408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Yosys → sky130 netlist + area</a:t>
            </a:r>
            <a:endParaRPr lang="en-US" sz="1200" dirty="0"/>
          </a:p>
        </p:txBody>
      </p:sp>
      <p:sp>
        <p:nvSpPr>
          <p:cNvPr id="41" name="Text 39"/>
          <p:cNvSpPr/>
          <p:nvPr/>
        </p:nvSpPr>
        <p:spPr>
          <a:xfrm>
            <a:off x="6223000" y="3865463"/>
            <a:ext cx="1962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563A8"/>
                </a:solidFill>
                <a:latin typeface="JetBrains Mono" pitchFamily="49" charset="0"/>
                <a:ea typeface="JetBrains Mono" pitchFamily="49" charset="-122"/>
                <a:cs typeface="JetBrains Mono" pitchFamily="49" charset="-120"/>
              </a:rPr>
              <a:t>sta/power.tcl</a:t>
            </a:r>
            <a:endParaRPr lang="en-US" sz="1200" dirty="0"/>
          </a:p>
        </p:txBody>
      </p:sp>
      <p:sp>
        <p:nvSpPr>
          <p:cNvPr id="42" name="Text 40"/>
          <p:cNvSpPr/>
          <p:nvPr/>
        </p:nvSpPr>
        <p:spPr>
          <a:xfrm>
            <a:off x="8229600" y="3865463"/>
            <a:ext cx="324408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OpenSTA timing and power</a:t>
            </a:r>
            <a:endParaRPr lang="en-US" sz="1200" dirty="0"/>
          </a:p>
        </p:txBody>
      </p:sp>
      <p:sp>
        <p:nvSpPr>
          <p:cNvPr id="43" name="Text 41"/>
          <p:cNvSpPr/>
          <p:nvPr/>
        </p:nvSpPr>
        <p:spPr>
          <a:xfrm>
            <a:off x="6223000" y="4116884"/>
            <a:ext cx="1962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563A8"/>
                </a:solidFill>
                <a:latin typeface="JetBrains Mono" pitchFamily="49" charset="0"/>
                <a:ea typeface="JetBrains Mono" pitchFamily="49" charset="-122"/>
                <a:cs typeface="JetBrains Mono" pitchFamily="49" charset="-120"/>
              </a:rPr>
              <a:t>ppa/power.py</a:t>
            </a:r>
            <a:endParaRPr lang="en-US" sz="1200" dirty="0"/>
          </a:p>
        </p:txBody>
      </p:sp>
      <p:sp>
        <p:nvSpPr>
          <p:cNvPr id="44" name="Text 42"/>
          <p:cNvSpPr/>
          <p:nvPr/>
        </p:nvSpPr>
        <p:spPr>
          <a:xfrm>
            <a:off x="8229600" y="4116884"/>
            <a:ext cx="324408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run the flow, write the CSVs</a:t>
            </a:r>
            <a:endParaRPr lang="en-US" sz="1200" dirty="0"/>
          </a:p>
        </p:txBody>
      </p:sp>
      <p:sp>
        <p:nvSpPr>
          <p:cNvPr id="45" name="Text 43"/>
          <p:cNvSpPr/>
          <p:nvPr/>
        </p:nvSpPr>
        <p:spPr>
          <a:xfrm>
            <a:off x="6223000" y="4444504"/>
            <a:ext cx="531088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4501B"/>
                </a:solidFill>
                <a:latin typeface="IBM Plex Sans" pitchFamily="34" charset="0"/>
                <a:ea typeface="IBM Plex Sans" pitchFamily="34" charset="-122"/>
                <a:cs typeface="IBM Plex Sans" pitchFamily="34" charset="-120"/>
              </a:rPr>
              <a:t>top level</a:t>
            </a:r>
            <a:endParaRPr lang="en-US" sz="1200" dirty="0"/>
          </a:p>
        </p:txBody>
      </p:sp>
      <p:sp>
        <p:nvSpPr>
          <p:cNvPr id="46" name="Text 44"/>
          <p:cNvSpPr/>
          <p:nvPr/>
        </p:nvSpPr>
        <p:spPr>
          <a:xfrm>
            <a:off x="6223000" y="4695924"/>
            <a:ext cx="1962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563A8"/>
                </a:solidFill>
                <a:latin typeface="JetBrains Mono" pitchFamily="49" charset="0"/>
                <a:ea typeface="JetBrains Mono" pitchFamily="49" charset="-122"/>
                <a:cs typeface="JetBrains Mono" pitchFamily="49" charset="-120"/>
              </a:rPr>
              <a:t>Makefile</a:t>
            </a:r>
            <a:endParaRPr lang="en-US" sz="1200" dirty="0"/>
          </a:p>
        </p:txBody>
      </p:sp>
      <p:sp>
        <p:nvSpPr>
          <p:cNvPr id="47" name="Text 45"/>
          <p:cNvSpPr/>
          <p:nvPr/>
        </p:nvSpPr>
        <p:spPr>
          <a:xfrm>
            <a:off x="8229600" y="4695924"/>
            <a:ext cx="324408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one command per step</a:t>
            </a:r>
            <a:endParaRPr lang="en-US" sz="1200" dirty="0"/>
          </a:p>
        </p:txBody>
      </p:sp>
      <p:sp>
        <p:nvSpPr>
          <p:cNvPr id="48" name="Text 46"/>
          <p:cNvSpPr/>
          <p:nvPr/>
        </p:nvSpPr>
        <p:spPr>
          <a:xfrm>
            <a:off x="6223000" y="4947345"/>
            <a:ext cx="1962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563A8"/>
                </a:solidFill>
                <a:latin typeface="JetBrains Mono" pitchFamily="49" charset="0"/>
                <a:ea typeface="JetBrains Mono" pitchFamily="49" charset="-122"/>
                <a:cs typeface="JetBrains Mono" pitchFamily="49" charset="-120"/>
              </a:rPr>
              <a:t>results/ figures/</a:t>
            </a:r>
            <a:endParaRPr lang="en-US" sz="1200" dirty="0"/>
          </a:p>
        </p:txBody>
      </p:sp>
      <p:sp>
        <p:nvSpPr>
          <p:cNvPr id="49" name="Text 47"/>
          <p:cNvSpPr/>
          <p:nvPr/>
        </p:nvSpPr>
        <p:spPr>
          <a:xfrm>
            <a:off x="8229600" y="4947345"/>
            <a:ext cx="324408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generated only, never hand-edited</a:t>
            </a:r>
            <a:endParaRPr lang="en-US" sz="1200" dirty="0"/>
          </a:p>
        </p:txBody>
      </p:sp>
      <p:sp>
        <p:nvSpPr>
          <p:cNvPr id="50" name="Text 48"/>
          <p:cNvSpPr/>
          <p:nvPr/>
        </p:nvSpPr>
        <p:spPr>
          <a:xfrm>
            <a:off x="6223000" y="5198765"/>
            <a:ext cx="1962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563A8"/>
                </a:solidFill>
                <a:latin typeface="JetBrains Mono" pitchFamily="49" charset="0"/>
                <a:ea typeface="JetBrains Mono" pitchFamily="49" charset="-122"/>
                <a:cs typeface="JetBrains Mono" pitchFamily="49" charset="-120"/>
              </a:rPr>
              <a:t>docs/</a:t>
            </a:r>
            <a:endParaRPr lang="en-US" sz="1200" dirty="0"/>
          </a:p>
        </p:txBody>
      </p:sp>
      <p:sp>
        <p:nvSpPr>
          <p:cNvPr id="51" name="Text 49"/>
          <p:cNvSpPr/>
          <p:nvPr/>
        </p:nvSpPr>
        <p:spPr>
          <a:xfrm>
            <a:off x="8229600" y="5198765"/>
            <a:ext cx="324408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milestone1.md, REFERENCES.md</a:t>
            </a:r>
            <a:endParaRPr lang="en-US" sz="1200" dirty="0"/>
          </a:p>
        </p:txBody>
      </p:sp>
      <p:sp>
        <p:nvSpPr>
          <p:cNvPr id="52" name="Text 50"/>
          <p:cNvSpPr/>
          <p:nvPr/>
        </p:nvSpPr>
        <p:spPr>
          <a:xfrm>
            <a:off x="812800" y="6235700"/>
            <a:ext cx="8789194" cy="2413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3"/>
                </a:solidFill>
                <a:latin typeface="IBM Plex Sans" pitchFamily="34" charset="0"/>
                <a:ea typeface="IBM Plex Sans" pitchFamily="34" charset="-122"/>
                <a:cs typeface="IBM Plex Sans" pitchFamily="34" charset="-120"/>
              </a:rPr>
              <a:t>Also in flow/: make_synth_lib.py (liberty copy without lpflow and probe cells) · README.md, PROGRESS.md</a:t>
            </a:r>
            <a:endParaRPr lang="en-US" sz="1200" dirty="0"/>
          </a:p>
        </p:txBody>
      </p:sp>
      <p:sp>
        <p:nvSpPr>
          <p:cNvPr id="53" name="Text 51"/>
          <p:cNvSpPr/>
          <p:nvPr/>
        </p:nvSpPr>
        <p:spPr>
          <a:xfrm>
            <a:off x="11236920" y="6235700"/>
            <a:ext cx="142280" cy="24130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3"/>
                </a:solidFill>
                <a:latin typeface="IBM Plex Sans" pitchFamily="34" charset="0"/>
                <a:ea typeface="IBM Plex Sans" pitchFamily="34" charset="-122"/>
                <a:cs typeface="IBM Plex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202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955A"/>
                </a:solidFill>
                <a:latin typeface="IBM Plex Sans" pitchFamily="34" charset="0"/>
                <a:ea typeface="IBM Plex Sans" pitchFamily="34" charset="-122"/>
                <a:cs typeface="IBM Plex Sans" pitchFamily="34" charset="-120"/>
              </a:rPr>
              <a:t>WHAT CAN BE THE FUTURE RESULTS</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2EFE7"/>
                </a:solidFill>
                <a:latin typeface="IBM Plex Sans" pitchFamily="34" charset="0"/>
                <a:ea typeface="IBM Plex Sans" pitchFamily="34" charset="-122"/>
                <a:cs typeface="IBM Plex Sans" pitchFamily="34" charset="-120"/>
              </a:rPr>
              <a:t>Next: Milestone 2, due 29 October</a:t>
            </a:r>
            <a:endParaRPr lang="en-US" sz="3200" dirty="0"/>
          </a:p>
        </p:txBody>
      </p:sp>
      <p:sp>
        <p:nvSpPr>
          <p:cNvPr id="4" name="Text 2"/>
          <p:cNvSpPr/>
          <p:nvPr/>
        </p:nvSpPr>
        <p:spPr>
          <a:xfrm>
            <a:off x="812800" y="1803301"/>
            <a:ext cx="528472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8CB8F0"/>
                </a:solidFill>
                <a:latin typeface="IBM Plex Sans" pitchFamily="34" charset="0"/>
                <a:ea typeface="IBM Plex Sans" pitchFamily="34" charset="-122"/>
                <a:cs typeface="IBM Plex Sans" pitchFamily="34" charset="-120"/>
              </a:rPr>
              <a:t>We will build and run</a:t>
            </a:r>
            <a:endParaRPr lang="en-US" sz="1400" dirty="0"/>
          </a:p>
        </p:txBody>
      </p:sp>
      <p:sp>
        <p:nvSpPr>
          <p:cNvPr id="5" name="Text 3"/>
          <p:cNvSpPr/>
          <p:nvPr/>
        </p:nvSpPr>
        <p:spPr>
          <a:xfrm>
            <a:off x="891032" y="2143621"/>
            <a:ext cx="5198872" cy="1269603"/>
          </a:xfrm>
          <a:prstGeom prst="rect">
            <a:avLst/>
          </a:prstGeom>
          <a:noFill/>
          <a:ln/>
        </p:spPr>
        <p:txBody>
          <a:bodyPr wrap="square" lIns="0" tIns="0" rIns="0" bIns="0" rtlCol="0" anchor="t">
            <a:normAutofit/>
          </a:bodyPr>
          <a:lstStyle/>
          <a:p>
            <a:pPr algn="l" marL="175768" indent="-175768">
              <a:lnSpc>
                <a:spcPts val="1960"/>
              </a:lnSpc>
              <a:buSzPct val="100000"/>
              <a:buChar char="•"/>
            </a:pPr>
            <a:r>
              <a:rPr lang="en-US" sz="1400" dirty="0">
                <a:solidFill>
                  <a:srgbClr val="C5CED8"/>
                </a:solidFill>
                <a:latin typeface="IBM Plex Sans" pitchFamily="34" charset="0"/>
                <a:ea typeface="IBM Plex Sans" pitchFamily="34" charset="-122"/>
                <a:cs typeface="IBM Plex Sans" pitchFamily="34" charset="-120"/>
              </a:rPr>
              <a:t>MAC unit (24-bit accumulator) and a new 4×4 output-stationary systolic array, bit-exact vs a Python golden model</a:t>
            </a:r>
            <a:endParaRPr lang="en-US" sz="1400" dirty="0"/>
          </a:p>
          <a:p>
            <a:pPr algn="l" marL="175768" indent="-175768">
              <a:lnSpc>
                <a:spcPts val="1960"/>
              </a:lnSpc>
              <a:buSzPct val="100000"/>
              <a:buChar char="•"/>
            </a:pPr>
            <a:r>
              <a:rPr lang="en-US" sz="1400" dirty="0">
                <a:solidFill>
                  <a:srgbClr val="C5CED8"/>
                </a:solidFill>
                <a:latin typeface="IBM Plex Sans" pitchFamily="34" charset="0"/>
                <a:ea typeface="IBM Plex Sans" pitchFamily="34" charset="-122"/>
                <a:cs typeface="IBM Plex Sans" pitchFamily="34" charset="-120"/>
              </a:rPr>
              <a:t>Baselines: 3–4 EvoApproxLib multipliers and TruMD, each verified, then run through the identical flow</a:t>
            </a:r>
            <a:endParaRPr lang="en-US" sz="1400" dirty="0"/>
          </a:p>
          <a:p>
            <a:pPr algn="l" marL="175768" indent="-175768">
              <a:lnSpc>
                <a:spcPts val="1960"/>
              </a:lnSpc>
              <a:buSzPct val="100000"/>
              <a:buChar char="•"/>
            </a:pPr>
            <a:r>
              <a:rPr lang="en-US" sz="1400" dirty="0">
                <a:solidFill>
                  <a:srgbClr val="C5CED8"/>
                </a:solidFill>
                <a:latin typeface="IBM Plex Sans" pitchFamily="34" charset="0"/>
                <a:ea typeface="IBM Plex Sans" pitchFamily="34" charset="-122"/>
                <a:cs typeface="IBM Plex Sans" pitchFamily="34" charset="-120"/>
              </a:rPr>
              <a:t>Power with realistic stimulus: image pixels × kernel weights</a:t>
            </a:r>
            <a:endParaRPr lang="en-US" sz="1400" dirty="0"/>
          </a:p>
        </p:txBody>
      </p:sp>
      <p:sp>
        <p:nvSpPr>
          <p:cNvPr id="6" name="Text 4"/>
          <p:cNvSpPr/>
          <p:nvPr/>
        </p:nvSpPr>
        <p:spPr>
          <a:xfrm>
            <a:off x="6248400" y="1803301"/>
            <a:ext cx="528472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0955A"/>
                </a:solidFill>
                <a:latin typeface="IBM Plex Sans" pitchFamily="34" charset="0"/>
                <a:ea typeface="IBM Plex Sans" pitchFamily="34" charset="-122"/>
                <a:cs typeface="IBM Plex Sans" pitchFamily="34" charset="-120"/>
              </a:rPr>
              <a:t>Results we will report</a:t>
            </a:r>
            <a:endParaRPr lang="en-US" sz="1400" dirty="0"/>
          </a:p>
        </p:txBody>
      </p:sp>
      <p:sp>
        <p:nvSpPr>
          <p:cNvPr id="7" name="Text 5"/>
          <p:cNvSpPr/>
          <p:nvPr/>
        </p:nvSpPr>
        <p:spPr>
          <a:xfrm>
            <a:off x="6326632" y="2143621"/>
            <a:ext cx="5198872" cy="1767284"/>
          </a:xfrm>
          <a:prstGeom prst="rect">
            <a:avLst/>
          </a:prstGeom>
          <a:noFill/>
          <a:ln/>
        </p:spPr>
        <p:txBody>
          <a:bodyPr wrap="square" lIns="0" tIns="0" rIns="0" bIns="0" rtlCol="0" anchor="t">
            <a:normAutofit/>
          </a:bodyPr>
          <a:lstStyle/>
          <a:p>
            <a:pPr algn="l" marL="175768" indent="-175768">
              <a:lnSpc>
                <a:spcPts val="1960"/>
              </a:lnSpc>
              <a:buSzPct val="100000"/>
              <a:buChar char="•"/>
            </a:pPr>
            <a:r>
              <a:rPr lang="en-US" sz="1400" dirty="0">
                <a:solidFill>
                  <a:srgbClr val="C5CED8"/>
                </a:solidFill>
                <a:latin typeface="IBM Plex Sans" pitchFamily="34" charset="0"/>
                <a:ea typeface="IBM Plex Sans" pitchFamily="34" charset="-122"/>
                <a:cs typeface="IBM Plex Sans" pitchFamily="34" charset="-120"/>
              </a:rPr>
              <a:t>Accuracy vs area, delay and power curves across N, with the baselines marked</a:t>
            </a:r>
            <a:endParaRPr lang="en-US" sz="1400" dirty="0"/>
          </a:p>
          <a:p>
            <a:pPr algn="l" marL="175768" indent="-175768">
              <a:lnSpc>
                <a:spcPts val="1960"/>
              </a:lnSpc>
              <a:buSzPct val="100000"/>
              <a:buChar char="•"/>
            </a:pPr>
            <a:r>
              <a:rPr lang="en-US" sz="1400" dirty="0">
                <a:solidFill>
                  <a:srgbClr val="C5CED8"/>
                </a:solidFill>
                <a:latin typeface="IBM Plex Sans" pitchFamily="34" charset="0"/>
                <a:ea typeface="IBM Plex Sans" pitchFamily="34" charset="-122"/>
                <a:cs typeface="IBM Plex Sans" pitchFamily="34" charset="-120"/>
              </a:rPr>
              <a:t>Image filtering quality (PSNR, SSIM), including the Rather et al. cameraman case</a:t>
            </a:r>
            <a:endParaRPr lang="en-US" sz="1400" dirty="0"/>
          </a:p>
          <a:p>
            <a:pPr algn="l" marL="175768" indent="-175768">
              <a:lnSpc>
                <a:spcPts val="1960"/>
              </a:lnSpc>
              <a:buSzPct val="100000"/>
              <a:buChar char="•"/>
            </a:pPr>
            <a:r>
              <a:rPr lang="en-US" sz="1400" dirty="0">
                <a:solidFill>
                  <a:srgbClr val="C5CED8"/>
                </a:solidFill>
                <a:latin typeface="IBM Plex Sans" pitchFamily="34" charset="0"/>
                <a:ea typeface="IBM Plex Sans" pitchFamily="34" charset="-122"/>
                <a:cs typeface="IBM Plex Sans" pitchFamily="34" charset="-120"/>
              </a:rPr>
              <a:t>CNN on MNIST (int8): change in top-1 accuracy</a:t>
            </a:r>
            <a:endParaRPr lang="en-US" sz="1400" dirty="0"/>
          </a:p>
          <a:p>
            <a:pPr algn="l" marL="175768" indent="-175768">
              <a:lnSpc>
                <a:spcPts val="1960"/>
              </a:lnSpc>
              <a:buSzPct val="100000"/>
              <a:buChar char="•"/>
            </a:pPr>
            <a:r>
              <a:rPr lang="en-US" sz="1400" dirty="0">
                <a:solidFill>
                  <a:srgbClr val="C5CED8"/>
                </a:solidFill>
                <a:latin typeface="IBM Plex Sans" pitchFamily="34" charset="0"/>
                <a:ea typeface="IBM Plex Sans" pitchFamily="34" charset="-122"/>
                <a:cs typeface="IBM Plex Sans" pitchFamily="34" charset="-120"/>
              </a:rPr>
              <a:t>Which error metric best predicts quality loss: mean error, or EDmax and how often it occurs</a:t>
            </a:r>
            <a:endParaRPr lang="en-US" sz="1400" dirty="0"/>
          </a:p>
        </p:txBody>
      </p:sp>
      <p:sp>
        <p:nvSpPr>
          <p:cNvPr id="8" name="Text 6"/>
          <p:cNvSpPr/>
          <p:nvPr/>
        </p:nvSpPr>
        <p:spPr>
          <a:xfrm>
            <a:off x="812800" y="4139505"/>
            <a:ext cx="10566400" cy="467320"/>
          </a:xfrm>
          <a:prstGeom prst="roundRect">
            <a:avLst>
              <a:gd name="adj" fmla="val 16306"/>
            </a:avLst>
          </a:prstGeom>
          <a:solidFill>
            <a:srgbClr val="F0955A"/>
          </a:solidFill>
          <a:ln/>
        </p:spPr>
        <p:txBody>
          <a:bodyPr wrap="square" lIns="155482" tIns="104682" rIns="0" bIns="79282" rtlCol="0" anchor="t">
            <a:normAutofit/>
          </a:bodyPr>
          <a:lstStyle/>
          <a:p>
            <a:pPr algn="l" indent="0" marL="0">
              <a:lnSpc>
                <a:spcPts val="1680"/>
              </a:lnSpc>
              <a:buNone/>
            </a:pPr>
            <a:r>
              <a:rPr lang="en-US" sz="1200" b="1" dirty="0">
                <a:solidFill>
                  <a:srgbClr val="16202B"/>
                </a:solidFill>
                <a:latin typeface="IBM Plex Sans" pitchFamily="34" charset="0"/>
                <a:ea typeface="IBM Plex Sans" pitchFamily="34" charset="-122"/>
                <a:cs typeface="IBM Plex Sans" pitchFamily="34" charset="-120"/>
              </a:rPr>
              <a:t>Open issue from Milestone 1:</a:t>
            </a:r>
            <a:r>
              <a:rPr lang="en-US" sz="1200" dirty="0">
                <a:solidFill>
                  <a:srgbClr val="16202B"/>
                </a:solidFill>
                <a:latin typeface="IBM Plex Sans" pitchFamily="34" charset="0"/>
                <a:ea typeface="IBM Plex Sans" pitchFamily="34" charset="-122"/>
                <a:cs typeface="IBM Plex Sans" pitchFamily="34" charset="-120"/>
              </a:rPr>
              <a:t> delay does not fall steadily with N (the synthesis mapper has no timing target). We will test timing-driven mapping.</a:t>
            </a:r>
            <a:endParaRPr lang="en-US" sz="1200" dirty="0"/>
          </a:p>
        </p:txBody>
      </p:sp>
      <p:sp>
        <p:nvSpPr>
          <p:cNvPr id="9" name="Text 7"/>
          <p:cNvSpPr/>
          <p:nvPr/>
        </p:nvSpPr>
        <p:spPr>
          <a:xfrm>
            <a:off x="812800" y="6235700"/>
            <a:ext cx="3663315" cy="2413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6A3"/>
                </a:solidFill>
                <a:latin typeface="IBM Plex Sans" pitchFamily="34" charset="0"/>
                <a:ea typeface="IBM Plex Sans" pitchFamily="34" charset="-122"/>
                <a:cs typeface="IBM Plex Sans" pitchFamily="34" charset="-120"/>
              </a:rPr>
              <a:t>AxMAC · Milestone 1 · Thank you, questions?</a:t>
            </a:r>
            <a:endParaRPr lang="en-US" sz="1200" dirty="0"/>
          </a:p>
        </p:txBody>
      </p:sp>
      <p:sp>
        <p:nvSpPr>
          <p:cNvPr id="10" name="Text 8"/>
          <p:cNvSpPr/>
          <p:nvPr/>
        </p:nvSpPr>
        <p:spPr>
          <a:xfrm>
            <a:off x="11236920" y="6235700"/>
            <a:ext cx="142280" cy="24130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6A3"/>
                </a:solidFill>
                <a:latin typeface="IBM Plex Sans" pitchFamily="34" charset="0"/>
                <a:ea typeface="IBM Plex Sans" pitchFamily="34" charset="-122"/>
                <a:cs typeface="IBM Plex Sans" pitchFamily="34" charset="-120"/>
              </a:rPr>
              <a:t>9</a:t>
            </a:r>
            <a:endParaRPr lang="en-US" sz="1200" dirty="0"/>
          </a:p>
        </p:txBody>
      </p:sp>
    </p:spTree>
  </p:cSld>
  <p:clrMapOvr>
    <a:masterClrMapping/>
  </p:clrMapOvr>
</p:sld>
</file>

<file path=ppt/theme/theme1.xml><?xml version="1.0" encoding="utf-8"?>
<a:theme xmlns:a="http://schemas.openxmlformats.org/drawingml/2006/main" name="AxMAC Milestone 1">
  <a:themeElements>
    <a:clrScheme name="AxMAC Milestone 1">
      <a:dk1>
        <a:srgbClr val="16202B"/>
      </a:dk1>
      <a:lt1>
        <a:srgbClr val="F7F5EF"/>
      </a:lt1>
      <a:dk2>
        <a:srgbClr val="4E555C"/>
      </a:dk2>
      <a:lt2>
        <a:srgbClr val="E1E0DB"/>
      </a:lt2>
      <a:accent1>
        <a:srgbClr val="2563A8"/>
      </a:accent1>
      <a:accent2>
        <a:srgbClr val="C4501B"/>
      </a:accent2>
      <a:accent3>
        <a:srgbClr val="F0955A"/>
      </a:accent3>
      <a:accent4>
        <a:srgbClr val="8CB8F0"/>
      </a:accent4>
      <a:accent5>
        <a:srgbClr val="3D4752"/>
      </a:accent5>
      <a:accent6>
        <a:srgbClr val="5F6873"/>
      </a:accent6>
      <a:hlink>
        <a:srgbClr val="0563C1"/>
      </a:hlink>
      <a:folHlink>
        <a:srgbClr val="954F72"/>
      </a:folHlink>
    </a:clrScheme>
    <a:fontScheme name="AxMAC Milestone 1">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AxMAC Milestone 1</dc:title>
  <dc:subject/>
  <dc:creator/>
  <cp:lastModifiedBy/>
  <cp:revision>1</cp:revision>
  <dcterms:created xsi:type="dcterms:W3CDTF">2026-10-05T11:12:26Z</dcterms:created>
  <dcterms:modified xsi:type="dcterms:W3CDTF">2026-10-05T11:12:26Z</dcterms:modified>
</cp:coreProperties>
</file>